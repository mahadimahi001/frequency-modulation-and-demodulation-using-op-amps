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34"/>
  </p:notesMasterIdLst>
  <p:handoutMasterIdLst>
    <p:handoutMasterId r:id="rId35"/>
  </p:handoutMasterIdLst>
  <p:sldIdLst>
    <p:sldId id="256" r:id="rId2"/>
    <p:sldId id="272" r:id="rId3"/>
    <p:sldId id="280" r:id="rId4"/>
    <p:sldId id="257" r:id="rId5"/>
    <p:sldId id="292" r:id="rId6"/>
    <p:sldId id="293" r:id="rId7"/>
    <p:sldId id="294" r:id="rId8"/>
    <p:sldId id="295" r:id="rId9"/>
    <p:sldId id="258" r:id="rId10"/>
    <p:sldId id="276" r:id="rId11"/>
    <p:sldId id="259" r:id="rId12"/>
    <p:sldId id="296" r:id="rId13"/>
    <p:sldId id="297" r:id="rId14"/>
    <p:sldId id="264" r:id="rId15"/>
    <p:sldId id="277" r:id="rId16"/>
    <p:sldId id="290" r:id="rId17"/>
    <p:sldId id="279" r:id="rId18"/>
    <p:sldId id="281" r:id="rId19"/>
    <p:sldId id="298" r:id="rId20"/>
    <p:sldId id="299" r:id="rId21"/>
    <p:sldId id="300" r:id="rId22"/>
    <p:sldId id="301" r:id="rId23"/>
    <p:sldId id="302" r:id="rId24"/>
    <p:sldId id="303" r:id="rId25"/>
    <p:sldId id="286" r:id="rId26"/>
    <p:sldId id="287" r:id="rId27"/>
    <p:sldId id="288" r:id="rId28"/>
    <p:sldId id="289" r:id="rId29"/>
    <p:sldId id="304" r:id="rId30"/>
    <p:sldId id="305" r:id="rId31"/>
    <p:sldId id="306" r:id="rId32"/>
    <p:sldId id="268" r:id="rId33"/>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5153"/>
  </p:normalViewPr>
  <p:slideViewPr>
    <p:cSldViewPr snapToGrid="0" snapToObjects="1">
      <p:cViewPr varScale="1">
        <p:scale>
          <a:sx n="61" d="100"/>
          <a:sy n="61" d="100"/>
        </p:scale>
        <p:origin x="393" y="27"/>
      </p:cViewPr>
      <p:guideLst/>
    </p:cSldViewPr>
  </p:slideViewPr>
  <p:notesTextViewPr>
    <p:cViewPr>
      <p:scale>
        <a:sx n="1" d="1"/>
        <a:sy n="1" d="1"/>
      </p:scale>
      <p:origin x="0" y="0"/>
    </p:cViewPr>
  </p:notesTextViewPr>
  <p:notesViewPr>
    <p:cSldViewPr snapToGrid="0" snapToObjects="1">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0F265C-9DF2-E8FB-C281-49A95720C62B}"/>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C688A12-072E-E9DD-75D8-792036B5CAB6}"/>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A85F0298-9D9B-42EE-9FBC-5BF5BA8C94E8}" type="datetimeFigureOut">
              <a:rPr lang="en-GB" smtClean="0"/>
              <a:t>12/06/2023</a:t>
            </a:fld>
            <a:endParaRPr lang="en-GB"/>
          </a:p>
        </p:txBody>
      </p:sp>
      <p:sp>
        <p:nvSpPr>
          <p:cNvPr id="4" name="Footer Placeholder 3">
            <a:extLst>
              <a:ext uri="{FF2B5EF4-FFF2-40B4-BE49-F238E27FC236}">
                <a16:creationId xmlns:a16="http://schemas.microsoft.com/office/drawing/2014/main" id="{A4286D79-EFC6-014D-40F3-68F8FB024E05}"/>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0CA9D36-8240-DBBB-128E-9E573BE9AC2B}"/>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83C436C1-A97E-48B9-A38A-E4B8449736C9}" type="slidenum">
              <a:rPr lang="en-GB" smtClean="0"/>
              <a:t>‹#›</a:t>
            </a:fld>
            <a:endParaRPr lang="en-GB"/>
          </a:p>
        </p:txBody>
      </p:sp>
    </p:spTree>
    <p:extLst>
      <p:ext uri="{BB962C8B-B14F-4D97-AF65-F5344CB8AC3E}">
        <p14:creationId xmlns:p14="http://schemas.microsoft.com/office/powerpoint/2010/main" val="1291430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76F15EC-E103-EA4C-8F3D-F70BFBFE368F}" type="datetimeFigureOut">
              <a:rPr lang="en-BD" smtClean="0"/>
              <a:t>06/12/2023</a:t>
            </a:fld>
            <a:endParaRPr lang="en-BD"/>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915D39E-BF79-5044-9B9C-292D64001D90}" type="slidenum">
              <a:rPr lang="en-BD" smtClean="0"/>
              <a:t>‹#›</a:t>
            </a:fld>
            <a:endParaRPr lang="en-BD"/>
          </a:p>
        </p:txBody>
      </p:sp>
    </p:spTree>
    <p:extLst>
      <p:ext uri="{BB962C8B-B14F-4D97-AF65-F5344CB8AC3E}">
        <p14:creationId xmlns:p14="http://schemas.microsoft.com/office/powerpoint/2010/main" val="130034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GB" dirty="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1" name="Footer Placeholder 20"/>
          <p:cNvSpPr>
            <a:spLocks noGrp="1"/>
          </p:cNvSpPr>
          <p:nvPr>
            <p:ph type="ftr" sz="quarter" idx="11"/>
          </p:nvPr>
        </p:nvSpPr>
        <p:spPr>
          <a:xfrm>
            <a:off x="1453896" y="5211060"/>
            <a:ext cx="5905500" cy="228600"/>
          </a:xfrm>
          <a:prstGeom prst="rect">
            <a:avLst/>
          </a:prstGeom>
        </p:spPr>
        <p:txBody>
          <a:bodyPr/>
          <a:lstStyle>
            <a:lvl1pPr algn="l">
              <a:defRPr>
                <a:solidFill>
                  <a:schemeClr val="tx1">
                    <a:lumMod val="75000"/>
                    <a:lumOff val="25000"/>
                  </a:schemeClr>
                </a:solidFill>
              </a:defRPr>
            </a:lvl1pPr>
          </a:lstStyle>
          <a:p>
            <a:r>
              <a:rPr lang="en-GB"/>
              <a:t>Title of the Project</a:t>
            </a:r>
            <a:endParaRPr lang="en-BD"/>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9C29D53-9981-884B-B5B6-B5743DF81FD1}" type="slidenum">
              <a:rPr lang="en-BD" smtClean="0"/>
              <a:t>‹#›</a:t>
            </a:fld>
            <a:endParaRPr lang="en-BD"/>
          </a:p>
        </p:txBody>
      </p:sp>
      <p:sp>
        <p:nvSpPr>
          <p:cNvPr id="23" name="Rectangle 22">
            <a:extLst>
              <a:ext uri="{FF2B5EF4-FFF2-40B4-BE49-F238E27FC236}">
                <a16:creationId xmlns:a16="http://schemas.microsoft.com/office/drawing/2014/main" id="{ACC9C879-EF2D-BA4E-B6A9-D4377737278E}"/>
              </a:ext>
            </a:extLst>
          </p:cNvPr>
          <p:cNvSpPr/>
          <p:nvPr userDrawn="1"/>
        </p:nvSpPr>
        <p:spPr>
          <a:xfrm>
            <a:off x="0" y="0"/>
            <a:ext cx="12192000" cy="15622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dirty="0">
                <a:latin typeface="Arial" panose="020B0604020202020204" pitchFamily="34" charset="0"/>
                <a:cs typeface="Arial" panose="020B0604020202020204" pitchFamily="34" charset="0"/>
              </a:rPr>
              <a:t>EEE </a:t>
            </a:r>
            <a:r>
              <a:rPr lang="en-US" sz="2400" dirty="0">
                <a:latin typeface="Arial" panose="020B0604020202020204" pitchFamily="34" charset="0"/>
                <a:cs typeface="Arial" panose="020B0604020202020204" pitchFamily="34" charset="0"/>
              </a:rPr>
              <a:t>xxx</a:t>
            </a:r>
            <a:r>
              <a:rPr lang="en-BD" sz="2400" dirty="0">
                <a:latin typeface="Arial" panose="020B0604020202020204" pitchFamily="34" charset="0"/>
                <a:cs typeface="Arial" panose="020B0604020202020204" pitchFamily="34" charset="0"/>
              </a:rPr>
              <a:t> – </a:t>
            </a:r>
            <a:r>
              <a:rPr lang="en-US" sz="2400" dirty="0">
                <a:latin typeface="Arial" panose="020B0604020202020204" pitchFamily="34" charset="0"/>
                <a:cs typeface="Arial" panose="020B0604020202020204" pitchFamily="34" charset="0"/>
              </a:rPr>
              <a:t>Course Title</a:t>
            </a:r>
            <a:r>
              <a:rPr lang="en-BD" sz="2400" dirty="0">
                <a:latin typeface="Arial" panose="020B0604020202020204" pitchFamily="34" charset="0"/>
                <a:cs typeface="Arial" panose="020B0604020202020204" pitchFamily="34" charset="0"/>
              </a:rPr>
              <a:t> Laboratory</a:t>
            </a:r>
          </a:p>
          <a:p>
            <a:pPr marL="0" marR="0" lvl="0" indent="0" algn="ctr" defTabSz="457200" rtl="0" eaLnBrk="1" fontAlgn="auto" latinLnBrk="0" hangingPunct="1">
              <a:lnSpc>
                <a:spcPct val="100000"/>
              </a:lnSpc>
              <a:spcBef>
                <a:spcPts val="0"/>
              </a:spcBef>
              <a:spcAft>
                <a:spcPts val="0"/>
              </a:spcAft>
              <a:buClrTx/>
              <a:buSzTx/>
              <a:buFontTx/>
              <a:buNone/>
              <a:tabLst/>
              <a:defRPr/>
            </a:pPr>
            <a:r>
              <a:rPr lang="en-BD" sz="2800" dirty="0">
                <a:latin typeface="Arial" panose="020B0604020202020204" pitchFamily="34" charset="0"/>
                <a:cs typeface="Arial" panose="020B0604020202020204" pitchFamily="34" charset="0"/>
              </a:rPr>
              <a:t>Jan 202</a:t>
            </a:r>
            <a:r>
              <a:rPr lang="en-US" sz="2800" dirty="0">
                <a:latin typeface="Arial" panose="020B0604020202020204" pitchFamily="34" charset="0"/>
                <a:cs typeface="Arial" panose="020B0604020202020204" pitchFamily="34" charset="0"/>
              </a:rPr>
              <a:t>x </a:t>
            </a:r>
            <a:r>
              <a:rPr lang="en-BD" sz="2800" dirty="0">
                <a:latin typeface="Arial" panose="020B0604020202020204" pitchFamily="34" charset="0"/>
                <a:cs typeface="Arial" panose="020B0604020202020204" pitchFamily="34" charset="0"/>
              </a:rPr>
              <a:t>Level-</a:t>
            </a:r>
            <a:r>
              <a:rPr lang="en-US" sz="2800" dirty="0">
                <a:latin typeface="Arial" panose="020B0604020202020204" pitchFamily="34" charset="0"/>
                <a:cs typeface="Arial" panose="020B0604020202020204" pitchFamily="34" charset="0"/>
              </a:rPr>
              <a:t>x</a:t>
            </a:r>
            <a:r>
              <a:rPr lang="en-BD" sz="2800" dirty="0">
                <a:latin typeface="Arial" panose="020B0604020202020204" pitchFamily="34" charset="0"/>
                <a:cs typeface="Arial" panose="020B0604020202020204" pitchFamily="34" charset="0"/>
              </a:rPr>
              <a:t> Term-I Section </a:t>
            </a:r>
            <a:r>
              <a:rPr lang="en-US" sz="2800" dirty="0">
                <a:latin typeface="Arial" panose="020B0604020202020204" pitchFamily="34" charset="0"/>
                <a:cs typeface="Arial" panose="020B0604020202020204" pitchFamily="34" charset="0"/>
              </a:rPr>
              <a:t>Z</a:t>
            </a:r>
            <a:endParaRPr lang="en-BD" sz="2800" dirty="0">
              <a:latin typeface="Arial" panose="020B0604020202020204" pitchFamily="34" charset="0"/>
              <a:cs typeface="Arial" panose="020B0604020202020204" pitchFamily="34" charset="0"/>
            </a:endParaRPr>
          </a:p>
          <a:p>
            <a:pPr algn="ctr"/>
            <a:r>
              <a:rPr lang="en-BD" sz="3600" dirty="0">
                <a:latin typeface="Arial" panose="020B0604020202020204" pitchFamily="34" charset="0"/>
                <a:cs typeface="Arial" panose="020B0604020202020204" pitchFamily="34" charset="0"/>
              </a:rPr>
              <a:t>Final Project Demonstration</a:t>
            </a:r>
          </a:p>
        </p:txBody>
      </p:sp>
      <p:sp>
        <p:nvSpPr>
          <p:cNvPr id="24" name="Rectangle 23">
            <a:extLst>
              <a:ext uri="{FF2B5EF4-FFF2-40B4-BE49-F238E27FC236}">
                <a16:creationId xmlns:a16="http://schemas.microsoft.com/office/drawing/2014/main" id="{A799C6A4-662A-4C47-AB70-4A7A449F40AE}"/>
              </a:ext>
            </a:extLst>
          </p:cNvPr>
          <p:cNvSpPr/>
          <p:nvPr userDrawn="1"/>
        </p:nvSpPr>
        <p:spPr>
          <a:xfrm>
            <a:off x="0" y="5968657"/>
            <a:ext cx="12192000" cy="889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865755" algn="ctr"/>
                <a:tab pos="5731510" algn="r"/>
              </a:tabLst>
            </a:pP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Bangladesh University of Engineering and Technology</a:t>
            </a:r>
            <a:endParaRPr lang="en-GB" sz="1800" dirty="0">
              <a:effectLst/>
              <a:latin typeface="Arial" panose="020B0604020202020204" pitchFamily="34" charset="0"/>
              <a:ea typeface="Times New Roman" panose="02020603050405020304" pitchFamily="18" charset="0"/>
              <a:cs typeface="Arial" panose="020B0604020202020204" pitchFamily="34" charset="0"/>
            </a:endParaRPr>
          </a:p>
          <a:p>
            <a:pPr algn="ct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Department of Electrical and Electronic Engineering</a:t>
            </a:r>
            <a:endParaRPr lang="en-BD" sz="2400" dirty="0">
              <a:latin typeface="Arial" panose="020B0604020202020204" pitchFamily="34" charset="0"/>
              <a:cs typeface="Arial" panose="020B0604020202020204" pitchFamily="34" charset="0"/>
            </a:endParaRPr>
          </a:p>
        </p:txBody>
      </p:sp>
      <p:pic>
        <p:nvPicPr>
          <p:cNvPr id="9" name="Graphic 8">
            <a:extLst>
              <a:ext uri="{FF2B5EF4-FFF2-40B4-BE49-F238E27FC236}">
                <a16:creationId xmlns:a16="http://schemas.microsoft.com/office/drawing/2014/main" id="{89B5FDC4-269D-0A46-8DED-E482158D83E5}"/>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84048"/>
          <a:stretch/>
        </p:blipFill>
        <p:spPr>
          <a:xfrm>
            <a:off x="1682496" y="6046044"/>
            <a:ext cx="793630" cy="734567"/>
          </a:xfrm>
          <a:prstGeom prst="rect">
            <a:avLst/>
          </a:prstGeom>
        </p:spPr>
      </p:pic>
    </p:spTree>
    <p:extLst>
      <p:ext uri="{BB962C8B-B14F-4D97-AF65-F5344CB8AC3E}">
        <p14:creationId xmlns:p14="http://schemas.microsoft.com/office/powerpoint/2010/main" val="446892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C9649038-E67C-F32D-3A4E-49766B9CE12F}"/>
              </a:ext>
            </a:extLst>
          </p:cNvPr>
          <p:cNvSpPr>
            <a:spLocks noGrp="1"/>
          </p:cNvSpPr>
          <p:nvPr>
            <p:ph type="dt" sz="half" idx="10"/>
          </p:nvPr>
        </p:nvSpPr>
        <p:spPr/>
        <p:txBody>
          <a:bodyPr/>
          <a:lstStyle/>
          <a:p>
            <a:r>
              <a:rPr lang="en-US"/>
              <a:t>EEE 416 (2022) – Final Project Group A.XY</a:t>
            </a:r>
            <a:endParaRPr lang="en-BD" dirty="0"/>
          </a:p>
        </p:txBody>
      </p:sp>
      <p:sp>
        <p:nvSpPr>
          <p:cNvPr id="5" name="Footer Placeholder 4">
            <a:extLst>
              <a:ext uri="{FF2B5EF4-FFF2-40B4-BE49-F238E27FC236}">
                <a16:creationId xmlns:a16="http://schemas.microsoft.com/office/drawing/2014/main" id="{D54079AD-4F4B-2A08-E54B-560665B9ABE1}"/>
              </a:ext>
            </a:extLst>
          </p:cNvPr>
          <p:cNvSpPr>
            <a:spLocks noGrp="1"/>
          </p:cNvSpPr>
          <p:nvPr>
            <p:ph type="ftr" sz="quarter" idx="11"/>
          </p:nvPr>
        </p:nvSpPr>
        <p:spPr/>
        <p:txBody>
          <a:bodyPr/>
          <a:lstStyle/>
          <a:p>
            <a:pPr algn="ctr"/>
            <a:r>
              <a:rPr lang="en-BD"/>
              <a:t>Title of the Project</a:t>
            </a:r>
            <a:endParaRPr lang="en-BD" dirty="0"/>
          </a:p>
        </p:txBody>
      </p:sp>
      <p:sp>
        <p:nvSpPr>
          <p:cNvPr id="6" name="Slide Number Placeholder 5">
            <a:extLst>
              <a:ext uri="{FF2B5EF4-FFF2-40B4-BE49-F238E27FC236}">
                <a16:creationId xmlns:a16="http://schemas.microsoft.com/office/drawing/2014/main" id="{B2FBC4AE-B903-2951-368D-1CD59AE1F142}"/>
              </a:ext>
            </a:extLst>
          </p:cNvPr>
          <p:cNvSpPr>
            <a:spLocks noGrp="1"/>
          </p:cNvSpPr>
          <p:nvPr>
            <p:ph type="sldNum" sz="quarter" idx="12"/>
          </p:nvPr>
        </p:nvSpPr>
        <p:spPr/>
        <p:txBody>
          <a:bodyPr/>
          <a:lstStyle/>
          <a:p>
            <a:fld id="{E9C29D53-9981-884B-B5B6-B5743DF81FD1}" type="slidenum">
              <a:rPr lang="en-BD" smtClean="0"/>
              <a:pPr/>
              <a:t>‹#›</a:t>
            </a:fld>
            <a:endParaRPr lang="en-BD" dirty="0"/>
          </a:p>
        </p:txBody>
      </p:sp>
    </p:spTree>
    <p:extLst>
      <p:ext uri="{BB962C8B-B14F-4D97-AF65-F5344CB8AC3E}">
        <p14:creationId xmlns:p14="http://schemas.microsoft.com/office/powerpoint/2010/main" val="321943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Slide Number Placeholder 6"/>
          <p:cNvSpPr>
            <a:spLocks noGrp="1"/>
          </p:cNvSpPr>
          <p:nvPr>
            <p:ph type="sldNum" sz="quarter" idx="12"/>
          </p:nvPr>
        </p:nvSpPr>
        <p:spPr/>
        <p:txBody>
          <a:bodyPr/>
          <a:lstStyle/>
          <a:p>
            <a:fld id="{E9C29D53-9981-884B-B5B6-B5743DF81FD1}" type="slidenum">
              <a:rPr lang="en-BD" smtClean="0"/>
              <a:t>‹#›</a:t>
            </a:fld>
            <a:endParaRPr lang="en-BD"/>
          </a:p>
        </p:txBody>
      </p:sp>
      <p:sp>
        <p:nvSpPr>
          <p:cNvPr id="9" name="Date Placeholder 5">
            <a:extLst>
              <a:ext uri="{FF2B5EF4-FFF2-40B4-BE49-F238E27FC236}">
                <a16:creationId xmlns:a16="http://schemas.microsoft.com/office/drawing/2014/main" id="{7A532869-E847-B04C-9454-B1BBC68D6D5E}"/>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39C3B094-71D1-654C-855E-07B8BFC1B41C}"/>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4237455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Slide Number Placeholder 8"/>
          <p:cNvSpPr>
            <a:spLocks noGrp="1"/>
          </p:cNvSpPr>
          <p:nvPr>
            <p:ph type="sldNum" sz="quarter" idx="12"/>
          </p:nvPr>
        </p:nvSpPr>
        <p:spPr/>
        <p:txBody>
          <a:bodyPr/>
          <a:lstStyle/>
          <a:p>
            <a:fld id="{E9C29D53-9981-884B-B5B6-B5743DF81FD1}" type="slidenum">
              <a:rPr lang="en-BD" smtClean="0"/>
              <a:t>‹#›</a:t>
            </a:fld>
            <a:endParaRPr lang="en-BD"/>
          </a:p>
        </p:txBody>
      </p:sp>
      <p:sp>
        <p:nvSpPr>
          <p:cNvPr id="10" name="Date Placeholder 5">
            <a:extLst>
              <a:ext uri="{FF2B5EF4-FFF2-40B4-BE49-F238E27FC236}">
                <a16:creationId xmlns:a16="http://schemas.microsoft.com/office/drawing/2014/main" id="{3AA596F9-6385-224E-8B6A-509678335D14}"/>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1" name="Footer Placeholder 6">
            <a:extLst>
              <a:ext uri="{FF2B5EF4-FFF2-40B4-BE49-F238E27FC236}">
                <a16:creationId xmlns:a16="http://schemas.microsoft.com/office/drawing/2014/main" id="{1CB05F73-B36B-5A48-81EA-E76B135758B3}"/>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3184022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Slide Number Placeholder 4"/>
          <p:cNvSpPr>
            <a:spLocks noGrp="1"/>
          </p:cNvSpPr>
          <p:nvPr>
            <p:ph type="sldNum" sz="quarter" idx="12"/>
          </p:nvPr>
        </p:nvSpPr>
        <p:spPr/>
        <p:txBody>
          <a:bodyPr/>
          <a:lstStyle/>
          <a:p>
            <a:fld id="{E9C29D53-9981-884B-B5B6-B5743DF81FD1}" type="slidenum">
              <a:rPr lang="en-BD" smtClean="0"/>
              <a:t>‹#›</a:t>
            </a:fld>
            <a:endParaRPr lang="en-BD"/>
          </a:p>
        </p:txBody>
      </p:sp>
      <p:sp>
        <p:nvSpPr>
          <p:cNvPr id="6" name="Date Placeholder 5">
            <a:extLst>
              <a:ext uri="{FF2B5EF4-FFF2-40B4-BE49-F238E27FC236}">
                <a16:creationId xmlns:a16="http://schemas.microsoft.com/office/drawing/2014/main" id="{24A8BE3A-860F-304A-9628-0D1C6721E98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7" name="Footer Placeholder 6">
            <a:extLst>
              <a:ext uri="{FF2B5EF4-FFF2-40B4-BE49-F238E27FC236}">
                <a16:creationId xmlns:a16="http://schemas.microsoft.com/office/drawing/2014/main" id="{78BF763A-9E9F-6745-958E-87128C40B814}"/>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144822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9C29D53-9981-884B-B5B6-B5743DF81FD1}" type="slidenum">
              <a:rPr lang="en-BD" smtClean="0"/>
              <a:t>‹#›</a:t>
            </a:fld>
            <a:endParaRPr lang="en-BD"/>
          </a:p>
        </p:txBody>
      </p:sp>
      <p:sp>
        <p:nvSpPr>
          <p:cNvPr id="5" name="Date Placeholder 5">
            <a:extLst>
              <a:ext uri="{FF2B5EF4-FFF2-40B4-BE49-F238E27FC236}">
                <a16:creationId xmlns:a16="http://schemas.microsoft.com/office/drawing/2014/main" id="{7E522AF0-01E9-C04B-A4BD-1E790BA6B079}"/>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6">
            <a:extLst>
              <a:ext uri="{FF2B5EF4-FFF2-40B4-BE49-F238E27FC236}">
                <a16:creationId xmlns:a16="http://schemas.microsoft.com/office/drawing/2014/main" id="{6FE88DDB-FE65-5846-A692-EED395E9C200}"/>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39704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52ED7D-C8C9-FC45-9D41-2B197068D5F8}"/>
              </a:ext>
            </a:extLst>
          </p:cNvPr>
          <p:cNvSpPr/>
          <p:nvPr userDrawn="1"/>
        </p:nvSpPr>
        <p:spPr>
          <a:xfrm>
            <a:off x="1" y="6457189"/>
            <a:ext cx="12192000" cy="41316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D"/>
          </a:p>
        </p:txBody>
      </p:sp>
      <p:sp>
        <p:nvSpPr>
          <p:cNvPr id="2" name="Title Placeholder 1"/>
          <p:cNvSpPr>
            <a:spLocks noGrp="1"/>
          </p:cNvSpPr>
          <p:nvPr>
            <p:ph type="title"/>
          </p:nvPr>
        </p:nvSpPr>
        <p:spPr>
          <a:xfrm>
            <a:off x="1066800" y="459714"/>
            <a:ext cx="10058400" cy="729006"/>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1066800" y="1493520"/>
            <a:ext cx="10058400" cy="454152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p:cNvSpPr>
            <a:spLocks noGrp="1"/>
          </p:cNvSpPr>
          <p:nvPr>
            <p:ph type="sldNum" sz="quarter" idx="4"/>
          </p:nvPr>
        </p:nvSpPr>
        <p:spPr>
          <a:xfrm>
            <a:off x="11410950" y="6501638"/>
            <a:ext cx="521970" cy="308530"/>
          </a:xfrm>
          <a:prstGeom prst="rect">
            <a:avLst/>
          </a:prstGeom>
        </p:spPr>
        <p:txBody>
          <a:bodyPr vert="horz" lIns="91440" tIns="45720" rIns="91440" bIns="45720" rtlCol="0" anchor="b"/>
          <a:lstStyle>
            <a:lvl1pPr algn="r">
              <a:defRPr sz="1400" b="1">
                <a:solidFill>
                  <a:schemeClr val="bg1"/>
                </a:solidFill>
              </a:defRPr>
            </a:lvl1pPr>
          </a:lstStyle>
          <a:p>
            <a:fld id="{E9C29D53-9981-884B-B5B6-B5743DF81FD1}" type="slidenum">
              <a:rPr lang="en-BD" smtClean="0"/>
              <a:pPr/>
              <a:t>‹#›</a:t>
            </a:fld>
            <a:endParaRPr lang="en-BD" dirty="0"/>
          </a:p>
        </p:txBody>
      </p:sp>
      <p:pic>
        <p:nvPicPr>
          <p:cNvPr id="9" name="Graphic 8">
            <a:extLst>
              <a:ext uri="{FF2B5EF4-FFF2-40B4-BE49-F238E27FC236}">
                <a16:creationId xmlns:a16="http://schemas.microsoft.com/office/drawing/2014/main" id="{8D083A58-BF4A-C247-A39E-31621332A2F9}"/>
              </a:ext>
            </a:extLst>
          </p:cNvPr>
          <p:cNvPicPr>
            <a:picLocks noChangeAspect="1"/>
          </p:cNvPicPr>
          <p:nvPr userDrawn="1"/>
        </p:nvPicPr>
        <p:blipFill rotWithShape="1">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r="84048"/>
          <a:stretch/>
        </p:blipFill>
        <p:spPr>
          <a:xfrm>
            <a:off x="51125" y="6457189"/>
            <a:ext cx="381361" cy="352979"/>
          </a:xfrm>
          <a:prstGeom prst="rect">
            <a:avLst/>
          </a:prstGeom>
        </p:spPr>
      </p:pic>
      <p:sp>
        <p:nvSpPr>
          <p:cNvPr id="10" name="Date Placeholder 5">
            <a:extLst>
              <a:ext uri="{FF2B5EF4-FFF2-40B4-BE49-F238E27FC236}">
                <a16:creationId xmlns:a16="http://schemas.microsoft.com/office/drawing/2014/main" id="{576C60AE-BF9F-E948-A464-57EC6013BD0B}"/>
              </a:ext>
            </a:extLst>
          </p:cNvPr>
          <p:cNvSpPr>
            <a:spLocks noGrp="1"/>
          </p:cNvSpPr>
          <p:nvPr>
            <p:ph type="dt" sz="half" idx="2"/>
          </p:nvPr>
        </p:nvSpPr>
        <p:spPr>
          <a:xfrm>
            <a:off x="432486" y="6501637"/>
            <a:ext cx="3968064" cy="394119"/>
          </a:xfrm>
          <a:prstGeom prst="rect">
            <a:avLst/>
          </a:prstGeom>
        </p:spPr>
        <p:txBody>
          <a:bodyPr/>
          <a:lstStyle>
            <a:lvl1pPr>
              <a:defRPr>
                <a:solidFill>
                  <a:schemeClr val="bg1"/>
                </a:solidFill>
                <a:latin typeface="Arial Narrow" panose="020B0606020202030204" pitchFamily="34" charset="0"/>
              </a:defRPr>
            </a:lvl1pPr>
          </a:lstStyle>
          <a:p>
            <a:r>
              <a:rPr lang="en-US" dirty="0"/>
              <a:t>EEE </a:t>
            </a:r>
            <a:r>
              <a:rPr lang="en-US" dirty="0" err="1"/>
              <a:t>xyz</a:t>
            </a:r>
            <a:r>
              <a:rPr lang="en-US" dirty="0"/>
              <a:t> (202z) – Final Project Group A.XY</a:t>
            </a:r>
            <a:endParaRPr lang="en-BD" dirty="0"/>
          </a:p>
        </p:txBody>
      </p:sp>
      <p:sp>
        <p:nvSpPr>
          <p:cNvPr id="11" name="Footer Placeholder 6">
            <a:extLst>
              <a:ext uri="{FF2B5EF4-FFF2-40B4-BE49-F238E27FC236}">
                <a16:creationId xmlns:a16="http://schemas.microsoft.com/office/drawing/2014/main" id="{DCD1120D-AD02-624F-AC7B-A52A109ECB59}"/>
              </a:ext>
            </a:extLst>
          </p:cNvPr>
          <p:cNvSpPr>
            <a:spLocks noGrp="1"/>
          </p:cNvSpPr>
          <p:nvPr>
            <p:ph type="ftr" sz="quarter" idx="3"/>
          </p:nvPr>
        </p:nvSpPr>
        <p:spPr>
          <a:xfrm>
            <a:off x="4400550" y="6507645"/>
            <a:ext cx="5000625" cy="375412"/>
          </a:xfrm>
          <a:prstGeom prst="rect">
            <a:avLst/>
          </a:prstGeom>
        </p:spPr>
        <p:txBody>
          <a:bodyPr/>
          <a:lstStyle>
            <a:lvl1pPr algn="l">
              <a:defRPr>
                <a:solidFill>
                  <a:schemeClr val="bg1"/>
                </a:solidFill>
                <a:latin typeface="Arial Narrow" panose="020B0606020202030204" pitchFamily="34" charset="0"/>
              </a:defRPr>
            </a:lvl1pPr>
          </a:lstStyle>
          <a:p>
            <a:r>
              <a:rPr lang="en-BD" dirty="0"/>
              <a:t>Title of the Project</a:t>
            </a:r>
          </a:p>
        </p:txBody>
      </p:sp>
    </p:spTree>
    <p:extLst>
      <p:ext uri="{BB962C8B-B14F-4D97-AF65-F5344CB8AC3E}">
        <p14:creationId xmlns:p14="http://schemas.microsoft.com/office/powerpoint/2010/main" val="415582776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3" r:id="rId3"/>
    <p:sldLayoutId id="2147483714" r:id="rId4"/>
    <p:sldLayoutId id="2147483715" r:id="rId5"/>
    <p:sldLayoutId id="2147483716" r:id="rId6"/>
  </p:sldLayoutIdLst>
  <p:hf hdr="0"/>
  <p:txStyles>
    <p:title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2400" kern="1200">
          <a:solidFill>
            <a:schemeClr val="tx1"/>
          </a:solidFill>
          <a:latin typeface="Arial" panose="020B0604020202020204" pitchFamily="34" charset="0"/>
          <a:ea typeface="+mn-ea"/>
          <a:cs typeface="Arial" panose="020B0604020202020204" pitchFamily="34" charset="0"/>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2000" kern="1200">
          <a:solidFill>
            <a:schemeClr val="tx1"/>
          </a:solidFill>
          <a:latin typeface="Arial" panose="020B0604020202020204" pitchFamily="34" charset="0"/>
          <a:ea typeface="+mn-ea"/>
          <a:cs typeface="Arial" panose="020B0604020202020204" pitchFamily="34" charset="0"/>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ee.buet.ac.bd/academics/undergraduate/peo-po"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UILD &amp; CODE: Elegoo Arduino starter kit servo, LED, and ...">
            <a:extLst>
              <a:ext uri="{FF2B5EF4-FFF2-40B4-BE49-F238E27FC236}">
                <a16:creationId xmlns:a16="http://schemas.microsoft.com/office/drawing/2014/main" id="{AEDB557B-883F-B642-8577-6498598B70A8}"/>
              </a:ext>
            </a:extLst>
          </p:cNvPr>
          <p:cNvPicPr>
            <a:picLocks noChangeAspect="1" noChangeArrowheads="1"/>
          </p:cNvPicPr>
          <p:nvPr/>
        </p:nvPicPr>
        <p:blipFill rotWithShape="1">
          <a:blip r:embed="rId2" cstate="screen">
            <a:alphaModFix amt="20000"/>
            <a:extLst>
              <a:ext uri="{28A0092B-C50C-407E-A947-70E740481C1C}">
                <a14:useLocalDpi xmlns:a14="http://schemas.microsoft.com/office/drawing/2010/main"/>
              </a:ext>
            </a:extLst>
          </a:blip>
          <a:srcRect/>
          <a:stretch/>
        </p:blipFill>
        <p:spPr bwMode="auto">
          <a:xfrm>
            <a:off x="-3357" y="1531835"/>
            <a:ext cx="12188825" cy="44604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146C925-AD3C-084C-A393-173805EA7DAE}"/>
              </a:ext>
            </a:extLst>
          </p:cNvPr>
          <p:cNvSpPr>
            <a:spLocks noGrp="1"/>
          </p:cNvSpPr>
          <p:nvPr>
            <p:ph type="ctrTitle"/>
          </p:nvPr>
        </p:nvSpPr>
        <p:spPr>
          <a:xfrm>
            <a:off x="1771940" y="1775977"/>
            <a:ext cx="9068586" cy="1580405"/>
          </a:xfrm>
        </p:spPr>
        <p:txBody>
          <a:bodyPr/>
          <a:lstStyle/>
          <a:p>
            <a:r>
              <a:rPr lang="en-BD" sz="5400" cap="none" dirty="0">
                <a:latin typeface="Arial Black" panose="020B0A04020102020204" pitchFamily="34" charset="0"/>
              </a:rPr>
              <a:t>Title of Project</a:t>
            </a:r>
          </a:p>
        </p:txBody>
      </p:sp>
      <p:sp>
        <p:nvSpPr>
          <p:cNvPr id="3" name="Subtitle 2">
            <a:extLst>
              <a:ext uri="{FF2B5EF4-FFF2-40B4-BE49-F238E27FC236}">
                <a16:creationId xmlns:a16="http://schemas.microsoft.com/office/drawing/2014/main" id="{17F0DBAF-7D79-1641-9F57-35E40E2F3CCD}"/>
              </a:ext>
            </a:extLst>
          </p:cNvPr>
          <p:cNvSpPr>
            <a:spLocks noGrp="1"/>
          </p:cNvSpPr>
          <p:nvPr>
            <p:ph type="subTitle" idx="1"/>
          </p:nvPr>
        </p:nvSpPr>
        <p:spPr>
          <a:xfrm>
            <a:off x="1491175" y="5326165"/>
            <a:ext cx="2350475" cy="885432"/>
          </a:xfrm>
        </p:spPr>
        <p:txBody>
          <a:bodyPr/>
          <a:lstStyle/>
          <a:p>
            <a:r>
              <a:rPr lang="en-BD" sz="1200" dirty="0"/>
              <a:t>First Name M. Last Name</a:t>
            </a:r>
          </a:p>
          <a:p>
            <a:r>
              <a:rPr lang="en-BD" sz="2000" dirty="0"/>
              <a:t>1606XYZ</a:t>
            </a:r>
          </a:p>
        </p:txBody>
      </p:sp>
      <p:pic>
        <p:nvPicPr>
          <p:cNvPr id="1026" name="Picture 2" descr="We Get Your Visa for Iran - Visa on Arrival | AriaMedTour">
            <a:extLst>
              <a:ext uri="{FF2B5EF4-FFF2-40B4-BE49-F238E27FC236}">
                <a16:creationId xmlns:a16="http://schemas.microsoft.com/office/drawing/2014/main" id="{3858C5C2-70BE-814B-8762-8829283F214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005818" y="3982702"/>
            <a:ext cx="1343463" cy="1343463"/>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73D65FC9-0D80-444D-8239-028EF0E63ED0}"/>
              </a:ext>
            </a:extLst>
          </p:cNvPr>
          <p:cNvSpPr txBox="1">
            <a:spLocks/>
          </p:cNvSpPr>
          <p:nvPr/>
        </p:nvSpPr>
        <p:spPr>
          <a:xfrm>
            <a:off x="3863924" y="5326165"/>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sz="1200"/>
              <a:t>First Name M. Last Name</a:t>
            </a:r>
          </a:p>
          <a:p>
            <a:r>
              <a:rPr lang="en-BD" sz="2000"/>
              <a:t>1606XYZ</a:t>
            </a:r>
            <a:endParaRPr lang="en-BD" sz="2000" dirty="0"/>
          </a:p>
        </p:txBody>
      </p:sp>
      <p:pic>
        <p:nvPicPr>
          <p:cNvPr id="6" name="Picture 2" descr="We Get Your Visa for Iran - Visa on Arrival | AriaMedTour">
            <a:extLst>
              <a:ext uri="{FF2B5EF4-FFF2-40B4-BE49-F238E27FC236}">
                <a16:creationId xmlns:a16="http://schemas.microsoft.com/office/drawing/2014/main" id="{8C1E2448-7174-D146-87EA-2E00E125DAA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78567" y="3982702"/>
            <a:ext cx="1343463" cy="1343463"/>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C185C57D-A765-0B46-AE76-AD4244F426AB}"/>
              </a:ext>
            </a:extLst>
          </p:cNvPr>
          <p:cNvSpPr txBox="1">
            <a:spLocks/>
          </p:cNvSpPr>
          <p:nvPr/>
        </p:nvSpPr>
        <p:spPr>
          <a:xfrm>
            <a:off x="6117109" y="5333200"/>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sz="1200"/>
              <a:t>First Name M. Last Name</a:t>
            </a:r>
          </a:p>
          <a:p>
            <a:r>
              <a:rPr lang="en-BD" sz="2000"/>
              <a:t>1606XYZ</a:t>
            </a:r>
            <a:endParaRPr lang="en-BD" sz="2000" dirty="0"/>
          </a:p>
        </p:txBody>
      </p:sp>
      <p:pic>
        <p:nvPicPr>
          <p:cNvPr id="8" name="Picture 2" descr="We Get Your Visa for Iran - Visa on Arrival | AriaMedTour">
            <a:extLst>
              <a:ext uri="{FF2B5EF4-FFF2-40B4-BE49-F238E27FC236}">
                <a16:creationId xmlns:a16="http://schemas.microsoft.com/office/drawing/2014/main" id="{9DBEAE45-EACB-644E-B57B-BF1FCD177DE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31752" y="3989737"/>
            <a:ext cx="1343463" cy="1343463"/>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C7A885CF-D2B7-2D4F-9C5B-F2B757DB520C}"/>
              </a:ext>
            </a:extLst>
          </p:cNvPr>
          <p:cNvSpPr txBox="1">
            <a:spLocks/>
          </p:cNvSpPr>
          <p:nvPr/>
        </p:nvSpPr>
        <p:spPr>
          <a:xfrm>
            <a:off x="8490051" y="5323751"/>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sz="1200"/>
              <a:t>First Name M. Last Name</a:t>
            </a:r>
          </a:p>
          <a:p>
            <a:r>
              <a:rPr lang="en-BD" sz="2000"/>
              <a:t>1606XYZ</a:t>
            </a:r>
            <a:endParaRPr lang="en-BD" sz="2000" dirty="0"/>
          </a:p>
        </p:txBody>
      </p:sp>
      <p:pic>
        <p:nvPicPr>
          <p:cNvPr id="10" name="Picture 2" descr="We Get Your Visa for Iran - Visa on Arrival | AriaMedTour">
            <a:extLst>
              <a:ext uri="{FF2B5EF4-FFF2-40B4-BE49-F238E27FC236}">
                <a16:creationId xmlns:a16="http://schemas.microsoft.com/office/drawing/2014/main" id="{1D1BDD9D-1AC6-D545-AED6-677086890AE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04694" y="3980288"/>
            <a:ext cx="1343463" cy="1343463"/>
          </a:xfrm>
          <a:prstGeom prst="rect">
            <a:avLst/>
          </a:prstGeom>
          <a:noFill/>
          <a:extLst>
            <a:ext uri="{909E8E84-426E-40DD-AFC4-6F175D3DCCD1}">
              <a14:hiddenFill xmlns:a14="http://schemas.microsoft.com/office/drawing/2010/main">
                <a:solidFill>
                  <a:srgbClr val="FFFFFF"/>
                </a:solidFill>
              </a14:hiddenFill>
            </a:ext>
          </a:extLst>
        </p:spPr>
      </p:pic>
      <p:sp>
        <p:nvSpPr>
          <p:cNvPr id="11" name="Subtitle 2">
            <a:extLst>
              <a:ext uri="{FF2B5EF4-FFF2-40B4-BE49-F238E27FC236}">
                <a16:creationId xmlns:a16="http://schemas.microsoft.com/office/drawing/2014/main" id="{6D4ABD83-8F2E-FD4E-B18C-2299D6E2E152}"/>
              </a:ext>
            </a:extLst>
          </p:cNvPr>
          <p:cNvSpPr txBox="1">
            <a:spLocks/>
          </p:cNvSpPr>
          <p:nvPr/>
        </p:nvSpPr>
        <p:spPr>
          <a:xfrm>
            <a:off x="4884528" y="3554820"/>
            <a:ext cx="3033537"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cap="small" dirty="0"/>
              <a:t>Submitted by – Group A.XY</a:t>
            </a:r>
            <a:endParaRPr lang="en-BD" sz="2800" cap="small" dirty="0"/>
          </a:p>
        </p:txBody>
      </p:sp>
      <p:sp>
        <p:nvSpPr>
          <p:cNvPr id="4" name="TextBox 3">
            <a:extLst>
              <a:ext uri="{FF2B5EF4-FFF2-40B4-BE49-F238E27FC236}">
                <a16:creationId xmlns:a16="http://schemas.microsoft.com/office/drawing/2014/main" id="{4574D790-E73F-7D4F-8076-2A1F198D2A5C}"/>
              </a:ext>
            </a:extLst>
          </p:cNvPr>
          <p:cNvSpPr txBox="1"/>
          <p:nvPr/>
        </p:nvSpPr>
        <p:spPr>
          <a:xfrm>
            <a:off x="9209846" y="2191542"/>
            <a:ext cx="3261360" cy="923330"/>
          </a:xfrm>
          <a:prstGeom prst="rect">
            <a:avLst/>
          </a:prstGeom>
          <a:noFill/>
        </p:spPr>
        <p:txBody>
          <a:bodyPr wrap="square" rtlCol="0">
            <a:spAutoFit/>
          </a:bodyPr>
          <a:lstStyle/>
          <a:p>
            <a:r>
              <a:rPr lang="en-BD" dirty="0">
                <a:solidFill>
                  <a:srgbClr val="0432FF"/>
                </a:solidFill>
              </a:rPr>
              <a:t>Replace the background image with your own project’s image </a:t>
            </a:r>
          </a:p>
        </p:txBody>
      </p:sp>
      <p:sp>
        <p:nvSpPr>
          <p:cNvPr id="13" name="Slide Number Placeholder 12">
            <a:extLst>
              <a:ext uri="{FF2B5EF4-FFF2-40B4-BE49-F238E27FC236}">
                <a16:creationId xmlns:a16="http://schemas.microsoft.com/office/drawing/2014/main" id="{DB74ABDA-11C0-7C43-8041-3445AA6819AB}"/>
              </a:ext>
            </a:extLst>
          </p:cNvPr>
          <p:cNvSpPr>
            <a:spLocks noGrp="1"/>
          </p:cNvSpPr>
          <p:nvPr>
            <p:ph type="sldNum" sz="quarter" idx="12"/>
          </p:nvPr>
        </p:nvSpPr>
        <p:spPr>
          <a:xfrm>
            <a:off x="8606919" y="5631180"/>
            <a:ext cx="2111881" cy="228600"/>
          </a:xfrm>
        </p:spPr>
        <p:txBody>
          <a:bodyPr/>
          <a:lstStyle/>
          <a:p>
            <a:fld id="{E9C29D53-9981-884B-B5B6-B5743DF81FD1}" type="slidenum">
              <a:rPr lang="en-BD" smtClean="0"/>
              <a:t>1</a:t>
            </a:fld>
            <a:endParaRPr lang="en-BD"/>
          </a:p>
        </p:txBody>
      </p:sp>
      <p:sp>
        <p:nvSpPr>
          <p:cNvPr id="16" name="TextBox 15">
            <a:extLst>
              <a:ext uri="{FF2B5EF4-FFF2-40B4-BE49-F238E27FC236}">
                <a16:creationId xmlns:a16="http://schemas.microsoft.com/office/drawing/2014/main" id="{2F151145-FF9D-D648-9B44-04EEC1AA11EF}"/>
              </a:ext>
            </a:extLst>
          </p:cNvPr>
          <p:cNvSpPr txBox="1"/>
          <p:nvPr/>
        </p:nvSpPr>
        <p:spPr>
          <a:xfrm>
            <a:off x="512894" y="2516355"/>
            <a:ext cx="3261360" cy="923330"/>
          </a:xfrm>
          <a:prstGeom prst="rect">
            <a:avLst/>
          </a:prstGeom>
          <a:noFill/>
        </p:spPr>
        <p:txBody>
          <a:bodyPr wrap="square" rtlCol="0">
            <a:spAutoFit/>
          </a:bodyPr>
          <a:lstStyle/>
          <a:p>
            <a:r>
              <a:rPr lang="en-BD" dirty="0">
                <a:solidFill>
                  <a:srgbClr val="0432FF"/>
                </a:solidFill>
              </a:rPr>
              <a:t>Add your own name and pictures in the title slide, adjust fonts if necessary</a:t>
            </a:r>
          </a:p>
        </p:txBody>
      </p:sp>
    </p:spTree>
    <p:extLst>
      <p:ext uri="{BB962C8B-B14F-4D97-AF65-F5344CB8AC3E}">
        <p14:creationId xmlns:p14="http://schemas.microsoft.com/office/powerpoint/2010/main" val="2778246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3012B-84B9-7349-A96C-D843A369539B}"/>
              </a:ext>
            </a:extLst>
          </p:cNvPr>
          <p:cNvSpPr>
            <a:spLocks noGrp="1"/>
          </p:cNvSpPr>
          <p:nvPr>
            <p:ph type="title"/>
          </p:nvPr>
        </p:nvSpPr>
        <p:spPr/>
        <p:txBody>
          <a:bodyPr/>
          <a:lstStyle/>
          <a:p>
            <a:r>
              <a:rPr lang="en-BD" dirty="0"/>
              <a:t>Outline</a:t>
            </a:r>
          </a:p>
        </p:txBody>
      </p:sp>
      <p:sp>
        <p:nvSpPr>
          <p:cNvPr id="3" name="Content Placeholder 2">
            <a:extLst>
              <a:ext uri="{FF2B5EF4-FFF2-40B4-BE49-F238E27FC236}">
                <a16:creationId xmlns:a16="http://schemas.microsoft.com/office/drawing/2014/main" id="{D6E5899E-188D-E346-BD75-A52C25C2CF7A}"/>
              </a:ext>
            </a:extLst>
          </p:cNvPr>
          <p:cNvSpPr>
            <a:spLocks noGrp="1"/>
          </p:cNvSpPr>
          <p:nvPr>
            <p:ph idx="1"/>
          </p:nvPr>
        </p:nvSpPr>
        <p:spPr/>
        <p:txBody>
          <a:bodyPr/>
          <a:lstStyle/>
          <a:p>
            <a:pPr marL="457200" indent="-457200">
              <a:buFont typeface="+mj-lt"/>
              <a:buAutoNum type="arabicPeriod"/>
            </a:pPr>
            <a:r>
              <a:rPr lang="en-BD" dirty="0"/>
              <a:t>Summary</a:t>
            </a:r>
          </a:p>
          <a:p>
            <a:pPr marL="457200" indent="-457200">
              <a:buFont typeface="+mj-lt"/>
              <a:buAutoNum type="arabicPeriod"/>
            </a:pPr>
            <a:r>
              <a:rPr lang="en-US" dirty="0"/>
              <a:t>Introduction</a:t>
            </a:r>
            <a:endParaRPr lang="en-BD" dirty="0"/>
          </a:p>
          <a:p>
            <a:pPr marL="457200" indent="-457200">
              <a:buFont typeface="+mj-lt"/>
              <a:buAutoNum type="arabicPeriod"/>
            </a:pPr>
            <a:r>
              <a:rPr lang="en-US" dirty="0"/>
              <a:t>Design</a:t>
            </a:r>
            <a:endParaRPr lang="en-BD" dirty="0"/>
          </a:p>
          <a:p>
            <a:pPr marL="457200" indent="-457200">
              <a:buFont typeface="+mj-lt"/>
              <a:buAutoNum type="arabicPeriod"/>
            </a:pPr>
            <a:r>
              <a:rPr lang="en-US" dirty="0"/>
              <a:t>Implementation</a:t>
            </a:r>
            <a:endParaRPr lang="en-BD" dirty="0"/>
          </a:p>
          <a:p>
            <a:pPr marL="457200" indent="-457200">
              <a:buFont typeface="+mj-lt"/>
              <a:buAutoNum type="arabicPeriod"/>
            </a:pPr>
            <a:r>
              <a:rPr lang="en-US" dirty="0"/>
              <a:t>Analysis and Evaluation</a:t>
            </a:r>
            <a:endParaRPr lang="en-BD" dirty="0"/>
          </a:p>
          <a:p>
            <a:pPr marL="457200" indent="-457200">
              <a:buFont typeface="+mj-lt"/>
              <a:buAutoNum type="arabicPeriod"/>
            </a:pPr>
            <a:r>
              <a:rPr lang="en-US" dirty="0"/>
              <a:t>References</a:t>
            </a:r>
            <a:endParaRPr lang="en-BD" dirty="0"/>
          </a:p>
        </p:txBody>
      </p:sp>
      <p:sp>
        <p:nvSpPr>
          <p:cNvPr id="4" name="Slide Number Placeholder 3">
            <a:extLst>
              <a:ext uri="{FF2B5EF4-FFF2-40B4-BE49-F238E27FC236}">
                <a16:creationId xmlns:a16="http://schemas.microsoft.com/office/drawing/2014/main" id="{E4016421-CA9E-E344-9555-2F9A2A519073}"/>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a:t>
            </a:fld>
            <a:endParaRPr lang="en-BD"/>
          </a:p>
        </p:txBody>
      </p:sp>
      <p:sp>
        <p:nvSpPr>
          <p:cNvPr id="5" name="Date Placeholder 4">
            <a:extLst>
              <a:ext uri="{FF2B5EF4-FFF2-40B4-BE49-F238E27FC236}">
                <a16:creationId xmlns:a16="http://schemas.microsoft.com/office/drawing/2014/main" id="{7A4EB6EC-D213-9F48-8356-86C62AC118FF}"/>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1B9B0E6E-7910-2644-9BBD-C431B66BAC64}"/>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8" name="TextBox 7">
            <a:extLst>
              <a:ext uri="{FF2B5EF4-FFF2-40B4-BE49-F238E27FC236}">
                <a16:creationId xmlns:a16="http://schemas.microsoft.com/office/drawing/2014/main" id="{36D63E29-E122-C943-83EC-9E431E6622E1}"/>
              </a:ext>
            </a:extLst>
          </p:cNvPr>
          <p:cNvSpPr txBox="1"/>
          <p:nvPr/>
        </p:nvSpPr>
        <p:spPr>
          <a:xfrm>
            <a:off x="7863840" y="2505670"/>
            <a:ext cx="3261360" cy="1477328"/>
          </a:xfrm>
          <a:prstGeom prst="rect">
            <a:avLst/>
          </a:prstGeom>
          <a:noFill/>
        </p:spPr>
        <p:txBody>
          <a:bodyPr wrap="square" rtlCol="0">
            <a:spAutoFit/>
          </a:bodyPr>
          <a:lstStyle/>
          <a:p>
            <a:r>
              <a:rPr lang="en-BD" dirty="0">
                <a:solidFill>
                  <a:srgbClr val="0432FF"/>
                </a:solidFill>
              </a:rPr>
              <a:t>Feel free to change titles of the individual slides. Also, feel free to use smart art here to make it more attractive</a:t>
            </a:r>
          </a:p>
        </p:txBody>
      </p:sp>
      <p:sp>
        <p:nvSpPr>
          <p:cNvPr id="9" name="TextBox 8">
            <a:extLst>
              <a:ext uri="{FF2B5EF4-FFF2-40B4-BE49-F238E27FC236}">
                <a16:creationId xmlns:a16="http://schemas.microsoft.com/office/drawing/2014/main" id="{58D7C807-C342-DCFF-233C-C458BCF3C512}"/>
              </a:ext>
            </a:extLst>
          </p:cNvPr>
          <p:cNvSpPr txBox="1"/>
          <p:nvPr/>
        </p:nvSpPr>
        <p:spPr>
          <a:xfrm>
            <a:off x="5736932" y="5939706"/>
            <a:ext cx="5070498" cy="369332"/>
          </a:xfrm>
          <a:prstGeom prst="rect">
            <a:avLst/>
          </a:prstGeom>
          <a:noFill/>
        </p:spPr>
        <p:txBody>
          <a:bodyPr wrap="square" rtlCol="0">
            <a:spAutoFit/>
          </a:bodyPr>
          <a:lstStyle/>
          <a:p>
            <a:r>
              <a:rPr lang="en-US" dirty="0">
                <a:solidFill>
                  <a:srgbClr val="0432FF"/>
                </a:solidFill>
              </a:rPr>
              <a:t>Make sure to change the footer below</a:t>
            </a:r>
            <a:endParaRPr lang="en-BD" dirty="0">
              <a:solidFill>
                <a:srgbClr val="0432FF"/>
              </a:solidFill>
            </a:endParaRPr>
          </a:p>
        </p:txBody>
      </p:sp>
      <p:sp>
        <p:nvSpPr>
          <p:cNvPr id="10" name="TextBox 9">
            <a:extLst>
              <a:ext uri="{FF2B5EF4-FFF2-40B4-BE49-F238E27FC236}">
                <a16:creationId xmlns:a16="http://schemas.microsoft.com/office/drawing/2014/main" id="{C2E5FA1C-2756-45C7-CD8F-44812FDA59BB}"/>
              </a:ext>
            </a:extLst>
          </p:cNvPr>
          <p:cNvSpPr txBox="1"/>
          <p:nvPr/>
        </p:nvSpPr>
        <p:spPr>
          <a:xfrm>
            <a:off x="4919808" y="548962"/>
            <a:ext cx="5070498" cy="369332"/>
          </a:xfrm>
          <a:prstGeom prst="rect">
            <a:avLst/>
          </a:prstGeom>
          <a:noFill/>
        </p:spPr>
        <p:txBody>
          <a:bodyPr wrap="square" rtlCol="0">
            <a:spAutoFit/>
          </a:bodyPr>
          <a:lstStyle/>
          <a:p>
            <a:r>
              <a:rPr lang="en-US" dirty="0">
                <a:solidFill>
                  <a:srgbClr val="0432FF"/>
                </a:solidFill>
              </a:rPr>
              <a:t>Remove these blue texts</a:t>
            </a:r>
            <a:endParaRPr lang="en-BD" dirty="0">
              <a:solidFill>
                <a:srgbClr val="0432FF"/>
              </a:solidFill>
            </a:endParaRPr>
          </a:p>
        </p:txBody>
      </p:sp>
      <p:sp>
        <p:nvSpPr>
          <p:cNvPr id="11" name="TextBox 10">
            <a:extLst>
              <a:ext uri="{FF2B5EF4-FFF2-40B4-BE49-F238E27FC236}">
                <a16:creationId xmlns:a16="http://schemas.microsoft.com/office/drawing/2014/main" id="{43D012D0-622C-46B2-A624-4C1339C0A8E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209732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19EF6-C9F9-8E4B-90AC-5D229CB1168A}"/>
              </a:ext>
            </a:extLst>
          </p:cNvPr>
          <p:cNvSpPr>
            <a:spLocks noGrp="1"/>
          </p:cNvSpPr>
          <p:nvPr>
            <p:ph type="title"/>
          </p:nvPr>
        </p:nvSpPr>
        <p:spPr/>
        <p:txBody>
          <a:bodyPr/>
          <a:lstStyle/>
          <a:p>
            <a:r>
              <a:rPr lang="en-US" dirty="0"/>
              <a:t>1. Summary / Abstract</a:t>
            </a:r>
            <a:endParaRPr lang="en-BD" dirty="0"/>
          </a:p>
        </p:txBody>
      </p:sp>
      <p:sp>
        <p:nvSpPr>
          <p:cNvPr id="5" name="Content Placeholder 4">
            <a:extLst>
              <a:ext uri="{FF2B5EF4-FFF2-40B4-BE49-F238E27FC236}">
                <a16:creationId xmlns:a16="http://schemas.microsoft.com/office/drawing/2014/main" id="{51B2C38B-4AC5-9248-B4C6-67239E72DC1E}"/>
              </a:ext>
            </a:extLst>
          </p:cNvPr>
          <p:cNvSpPr>
            <a:spLocks noGrp="1"/>
          </p:cNvSpPr>
          <p:nvPr>
            <p:ph idx="1"/>
          </p:nvPr>
        </p:nvSpPr>
        <p:spPr/>
        <p:txBody>
          <a:bodyPr/>
          <a:lstStyle/>
          <a:p>
            <a:r>
              <a:rPr lang="en-BD" dirty="0"/>
              <a:t>Explain </a:t>
            </a:r>
            <a:r>
              <a:rPr lang="en-US" dirty="0"/>
              <a:t>your project briefly</a:t>
            </a:r>
            <a:r>
              <a:rPr lang="en-BD" dirty="0"/>
              <a:t>. </a:t>
            </a:r>
            <a:r>
              <a:rPr lang="en-GB" dirty="0"/>
              <a:t>A</a:t>
            </a:r>
            <a:r>
              <a:rPr lang="en-BD" dirty="0"/>
              <a:t>dd pictures </a:t>
            </a:r>
            <a:r>
              <a:rPr lang="en-US" dirty="0"/>
              <a:t>of your final project </a:t>
            </a:r>
            <a:r>
              <a:rPr lang="en-BD" dirty="0"/>
              <a:t>in the slide to help explain better. </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416 (2022) – Final Project Group A.XY</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Title of the Project</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227855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19EF6-C9F9-8E4B-90AC-5D229CB1168A}"/>
              </a:ext>
            </a:extLst>
          </p:cNvPr>
          <p:cNvSpPr>
            <a:spLocks noGrp="1"/>
          </p:cNvSpPr>
          <p:nvPr>
            <p:ph type="title"/>
          </p:nvPr>
        </p:nvSpPr>
        <p:spPr/>
        <p:txBody>
          <a:bodyPr/>
          <a:lstStyle/>
          <a:p>
            <a:r>
              <a:rPr lang="en-US" dirty="0"/>
              <a:t>2. Introduction</a:t>
            </a:r>
            <a:endParaRPr lang="en-BD" dirty="0"/>
          </a:p>
        </p:txBody>
      </p:sp>
      <p:sp>
        <p:nvSpPr>
          <p:cNvPr id="5" name="Content Placeholder 4">
            <a:extLst>
              <a:ext uri="{FF2B5EF4-FFF2-40B4-BE49-F238E27FC236}">
                <a16:creationId xmlns:a16="http://schemas.microsoft.com/office/drawing/2014/main" id="{51B2C38B-4AC5-9248-B4C6-67239E72DC1E}"/>
              </a:ext>
            </a:extLst>
          </p:cNvPr>
          <p:cNvSpPr>
            <a:spLocks noGrp="1"/>
          </p:cNvSpPr>
          <p:nvPr>
            <p:ph idx="1"/>
          </p:nvPr>
        </p:nvSpPr>
        <p:spPr/>
        <p:txBody>
          <a:bodyPr/>
          <a:lstStyle/>
          <a:p>
            <a:r>
              <a:rPr lang="en-BD" dirty="0"/>
              <a:t>Explain what the problem is in here. </a:t>
            </a:r>
            <a:r>
              <a:rPr lang="en-GB" dirty="0"/>
              <a:t>A</a:t>
            </a:r>
            <a:r>
              <a:rPr lang="en-BD" dirty="0"/>
              <a:t>dd generic pictures in the slide to help explain better. </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416 (2022) – Final Project Group A.XY</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Title of the Project</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4</a:t>
            </a:fld>
            <a:endParaRPr lang="en-BD"/>
          </a:p>
        </p:txBody>
      </p:sp>
      <p:pic>
        <p:nvPicPr>
          <p:cNvPr id="2050" name="Picture 2">
            <a:extLst>
              <a:ext uri="{FF2B5EF4-FFF2-40B4-BE49-F238E27FC236}">
                <a16:creationId xmlns:a16="http://schemas.microsoft.com/office/drawing/2014/main" id="{A9C13C30-FE7C-B14D-9862-EE1B8009ECB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066800" y="3872610"/>
            <a:ext cx="3606902" cy="239572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olar Water Pump - Sudan NextGen">
            <a:extLst>
              <a:ext uri="{FF2B5EF4-FFF2-40B4-BE49-F238E27FC236}">
                <a16:creationId xmlns:a16="http://schemas.microsoft.com/office/drawing/2014/main" id="{5F91A2EC-C10B-FD41-8460-CE0F8689DB7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00586" y="3981991"/>
            <a:ext cx="2225577" cy="223592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rduino MPPT Solar Charge Controller: #22 - Inductor ...">
            <a:extLst>
              <a:ext uri="{FF2B5EF4-FFF2-40B4-BE49-F238E27FC236}">
                <a16:creationId xmlns:a16="http://schemas.microsoft.com/office/drawing/2014/main" id="{2B338946-AB53-E24B-BF24-1CE464DDC5EA}"/>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753047" y="3950873"/>
            <a:ext cx="4179873" cy="235117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B4113EF-FC58-6A2C-48BE-FBF99C4B1ED7}"/>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298469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normAutofit fontScale="90000"/>
          </a:bodyPr>
          <a:lstStyle/>
          <a:p>
            <a:r>
              <a:rPr lang="en-US" dirty="0"/>
              <a:t>3.1 Design: </a:t>
            </a:r>
            <a:r>
              <a:rPr lang="en-GB" dirty="0"/>
              <a:t>Problem Formulation (PO(b))</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a:xfrm>
            <a:off x="1066800" y="2002972"/>
            <a:ext cx="10058400" cy="4032068"/>
          </a:xfrm>
        </p:spPr>
        <p:txBody>
          <a:bodyPr/>
          <a:lstStyle/>
          <a:p>
            <a:r>
              <a:rPr lang="en-US" dirty="0"/>
              <a:t>Write here…</a:t>
            </a:r>
            <a:endParaRPr lang="en-BD" dirty="0"/>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5</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F8D98CFC-581F-2C4F-57A4-5892CF555A9A}"/>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0BB7D6DE-4C96-4BC2-7498-AA3A80F1FF1A}"/>
              </a:ext>
            </a:extLst>
          </p:cNvPr>
          <p:cNvSpPr txBox="1"/>
          <p:nvPr/>
        </p:nvSpPr>
        <p:spPr>
          <a:xfrm>
            <a:off x="2238375" y="2763923"/>
            <a:ext cx="7065282" cy="1477328"/>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PO(b).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
        <p:nvSpPr>
          <p:cNvPr id="12" name="Title 1">
            <a:extLst>
              <a:ext uri="{FF2B5EF4-FFF2-40B4-BE49-F238E27FC236}">
                <a16:creationId xmlns:a16="http://schemas.microsoft.com/office/drawing/2014/main" id="{A8F085C8-BD3D-5640-EC75-0BCC5129C060}"/>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r>
              <a:rPr lang="en-GB" sz="3600" b="1" dirty="0"/>
              <a:t>3.1.1 Identification of Scope</a:t>
            </a:r>
          </a:p>
        </p:txBody>
      </p:sp>
    </p:spTree>
    <p:extLst>
      <p:ext uri="{BB962C8B-B14F-4D97-AF65-F5344CB8AC3E}">
        <p14:creationId xmlns:p14="http://schemas.microsoft.com/office/powerpoint/2010/main" val="3175869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normAutofit fontScale="90000"/>
          </a:bodyPr>
          <a:lstStyle/>
          <a:p>
            <a:r>
              <a:rPr lang="en-US" dirty="0"/>
              <a:t>3.1 Design: </a:t>
            </a:r>
            <a:r>
              <a:rPr lang="en-GB" dirty="0"/>
              <a:t>Problem Formulation (PO(b))</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a:xfrm>
            <a:off x="1066800" y="2002972"/>
            <a:ext cx="10058400" cy="4032068"/>
          </a:xfrm>
        </p:spPr>
        <p:txBody>
          <a:bodyPr/>
          <a:lstStyle/>
          <a:p>
            <a:r>
              <a:rPr lang="en-US" dirty="0"/>
              <a:t>Write here…</a:t>
            </a:r>
            <a:endParaRPr lang="en-BD" dirty="0"/>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6</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F8D98CFC-581F-2C4F-57A4-5892CF555A9A}"/>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0BB7D6DE-4C96-4BC2-7498-AA3A80F1FF1A}"/>
              </a:ext>
            </a:extLst>
          </p:cNvPr>
          <p:cNvSpPr txBox="1"/>
          <p:nvPr/>
        </p:nvSpPr>
        <p:spPr>
          <a:xfrm>
            <a:off x="2238375" y="2763923"/>
            <a:ext cx="7065282" cy="1477328"/>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PO(b).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
        <p:nvSpPr>
          <p:cNvPr id="12" name="Title 1">
            <a:extLst>
              <a:ext uri="{FF2B5EF4-FFF2-40B4-BE49-F238E27FC236}">
                <a16:creationId xmlns:a16="http://schemas.microsoft.com/office/drawing/2014/main" id="{A8F085C8-BD3D-5640-EC75-0BCC5129C060}"/>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r>
              <a:rPr lang="en-GB" sz="3600" b="1" dirty="0"/>
              <a:t>3.1.2 Literature Review</a:t>
            </a:r>
          </a:p>
        </p:txBody>
      </p:sp>
    </p:spTree>
    <p:extLst>
      <p:ext uri="{BB962C8B-B14F-4D97-AF65-F5344CB8AC3E}">
        <p14:creationId xmlns:p14="http://schemas.microsoft.com/office/powerpoint/2010/main" val="250576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normAutofit fontScale="90000"/>
          </a:bodyPr>
          <a:lstStyle/>
          <a:p>
            <a:r>
              <a:rPr lang="en-US" dirty="0"/>
              <a:t>3.1 Design: </a:t>
            </a:r>
            <a:r>
              <a:rPr lang="en-GB" dirty="0"/>
              <a:t>Problem Formulation (PO(b))</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a:xfrm>
            <a:off x="1066800" y="2002972"/>
            <a:ext cx="10058400" cy="4032068"/>
          </a:xfrm>
        </p:spPr>
        <p:txBody>
          <a:bodyPr/>
          <a:lstStyle/>
          <a:p>
            <a:r>
              <a:rPr lang="en-US" dirty="0"/>
              <a:t>Write here…</a:t>
            </a:r>
            <a:endParaRPr lang="en-BD" dirty="0"/>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7</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F8D98CFC-581F-2C4F-57A4-5892CF555A9A}"/>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0BB7D6DE-4C96-4BC2-7498-AA3A80F1FF1A}"/>
              </a:ext>
            </a:extLst>
          </p:cNvPr>
          <p:cNvSpPr txBox="1"/>
          <p:nvPr/>
        </p:nvSpPr>
        <p:spPr>
          <a:xfrm>
            <a:off x="2238375" y="2763923"/>
            <a:ext cx="7065282" cy="1477328"/>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PO(b).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
        <p:nvSpPr>
          <p:cNvPr id="12" name="Title 1">
            <a:extLst>
              <a:ext uri="{FF2B5EF4-FFF2-40B4-BE49-F238E27FC236}">
                <a16:creationId xmlns:a16="http://schemas.microsoft.com/office/drawing/2014/main" id="{A8F085C8-BD3D-5640-EC75-0BCC5129C060}"/>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r>
              <a:rPr lang="en-GB" sz="3600" b="1" dirty="0"/>
              <a:t>3.1.3 Formulation of Problem</a:t>
            </a:r>
          </a:p>
        </p:txBody>
      </p:sp>
    </p:spTree>
    <p:extLst>
      <p:ext uri="{BB962C8B-B14F-4D97-AF65-F5344CB8AC3E}">
        <p14:creationId xmlns:p14="http://schemas.microsoft.com/office/powerpoint/2010/main" val="100168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normAutofit fontScale="90000"/>
          </a:bodyPr>
          <a:lstStyle/>
          <a:p>
            <a:r>
              <a:rPr lang="en-US" dirty="0"/>
              <a:t>3.1 Design: </a:t>
            </a:r>
            <a:r>
              <a:rPr lang="en-GB" dirty="0"/>
              <a:t>Problem Formulation (PO(b))</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a:xfrm>
            <a:off x="1066800" y="2002972"/>
            <a:ext cx="10058400" cy="4032068"/>
          </a:xfrm>
        </p:spPr>
        <p:txBody>
          <a:bodyPr/>
          <a:lstStyle/>
          <a:p>
            <a:r>
              <a:rPr lang="en-US" dirty="0"/>
              <a:t>Write here…</a:t>
            </a:r>
            <a:endParaRPr lang="en-BD" dirty="0"/>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8</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F8D98CFC-581F-2C4F-57A4-5892CF555A9A}"/>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0BB7D6DE-4C96-4BC2-7498-AA3A80F1FF1A}"/>
              </a:ext>
            </a:extLst>
          </p:cNvPr>
          <p:cNvSpPr txBox="1"/>
          <p:nvPr/>
        </p:nvSpPr>
        <p:spPr>
          <a:xfrm>
            <a:off x="2238375" y="2763923"/>
            <a:ext cx="7065282" cy="1477328"/>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PO(b).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
        <p:nvSpPr>
          <p:cNvPr id="12" name="Title 1">
            <a:extLst>
              <a:ext uri="{FF2B5EF4-FFF2-40B4-BE49-F238E27FC236}">
                <a16:creationId xmlns:a16="http://schemas.microsoft.com/office/drawing/2014/main" id="{A8F085C8-BD3D-5640-EC75-0BCC5129C060}"/>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r>
              <a:rPr lang="en-GB" sz="3600" b="1" dirty="0"/>
              <a:t>3.1.4 Analysis</a:t>
            </a:r>
          </a:p>
        </p:txBody>
      </p:sp>
    </p:spTree>
    <p:extLst>
      <p:ext uri="{BB962C8B-B14F-4D97-AF65-F5344CB8AC3E}">
        <p14:creationId xmlns:p14="http://schemas.microsoft.com/office/powerpoint/2010/main" val="398029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lstStyle/>
          <a:p>
            <a:r>
              <a:rPr lang="en-US" dirty="0"/>
              <a:t>3.2 Design M</a:t>
            </a:r>
            <a:r>
              <a:rPr lang="en-BD" dirty="0"/>
              <a:t>ethods</a:t>
            </a:r>
            <a:r>
              <a:rPr lang="en-US" dirty="0"/>
              <a:t> (PO(a))</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p:txBody>
          <a:bodyPr/>
          <a:lstStyle/>
          <a:p>
            <a:r>
              <a:rPr lang="en-BD" dirty="0"/>
              <a:t>What components used, what microcontroller etc, which algorithm used. </a:t>
            </a:r>
            <a:r>
              <a:rPr lang="en-GB" dirty="0"/>
              <a:t>G</a:t>
            </a:r>
            <a:r>
              <a:rPr lang="en-BD" dirty="0"/>
              <a:t>ive reference if you took help from any website for implementing the project here. </a:t>
            </a:r>
            <a:r>
              <a:rPr lang="en-GB" dirty="0"/>
              <a:t>A</a:t>
            </a:r>
            <a:r>
              <a:rPr lang="en-BD" dirty="0"/>
              <a:t>dd pictures if necessary</a:t>
            </a:r>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9</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F8D98CFC-581F-2C4F-57A4-5892CF555A9A}"/>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0" name="TextBox 9">
            <a:extLst>
              <a:ext uri="{FF2B5EF4-FFF2-40B4-BE49-F238E27FC236}">
                <a16:creationId xmlns:a16="http://schemas.microsoft.com/office/drawing/2014/main" id="{094447DF-E1A1-AE8E-F535-6260265C7220}"/>
              </a:ext>
            </a:extLst>
          </p:cNvPr>
          <p:cNvSpPr txBox="1"/>
          <p:nvPr/>
        </p:nvSpPr>
        <p:spPr>
          <a:xfrm>
            <a:off x="3048000" y="2606265"/>
            <a:ext cx="6096000" cy="1754326"/>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PO(a).Write in details, how you applied knowledge of mathematics, science, and engineering to solve the problem. Give necessary mathematical derivations, equations etc.  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42175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p:txBody>
          <a:bodyPr/>
          <a:lstStyle/>
          <a:p>
            <a:r>
              <a:rPr lang="en-US" dirty="0"/>
              <a:t>3.3 Design: Circuit Diagram</a:t>
            </a:r>
            <a:endParaRPr lang="en-BD" dirty="0"/>
          </a:p>
        </p:txBody>
      </p:sp>
      <p:sp>
        <p:nvSpPr>
          <p:cNvPr id="3" name="Content Placeholder 2">
            <a:extLst>
              <a:ext uri="{FF2B5EF4-FFF2-40B4-BE49-F238E27FC236}">
                <a16:creationId xmlns:a16="http://schemas.microsoft.com/office/drawing/2014/main" id="{B5D1BFA2-EE69-374B-B248-C5EB3C1C2B3E}"/>
              </a:ext>
            </a:extLst>
          </p:cNvPr>
          <p:cNvSpPr>
            <a:spLocks noGrp="1"/>
          </p:cNvSpPr>
          <p:nvPr>
            <p:ph idx="1"/>
          </p:nvPr>
        </p:nvSpPr>
        <p:spPr/>
        <p:txBody>
          <a:bodyPr/>
          <a:lstStyle/>
          <a:p>
            <a:r>
              <a:rPr lang="en-US" dirty="0"/>
              <a:t>Circuit diagram of your project</a:t>
            </a:r>
            <a:endParaRPr lang="en-BD" dirty="0"/>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10</a:t>
            </a:fld>
            <a:endParaRPr lang="en-BD"/>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8" name="Footer Placeholder 6">
            <a:extLst>
              <a:ext uri="{FF2B5EF4-FFF2-40B4-BE49-F238E27FC236}">
                <a16:creationId xmlns:a16="http://schemas.microsoft.com/office/drawing/2014/main" id="{82DF7523-28E5-1646-96D1-1E49DDA95275}"/>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9" name="TextBox 8">
            <a:extLst>
              <a:ext uri="{FF2B5EF4-FFF2-40B4-BE49-F238E27FC236}">
                <a16:creationId xmlns:a16="http://schemas.microsoft.com/office/drawing/2014/main" id="{99657847-EFF5-9936-34C1-7317156A9653}"/>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0" name="TextBox 9">
            <a:extLst>
              <a:ext uri="{FF2B5EF4-FFF2-40B4-BE49-F238E27FC236}">
                <a16:creationId xmlns:a16="http://schemas.microsoft.com/office/drawing/2014/main" id="{37BB015D-B56A-190A-5F09-DEBA0EA7E723}"/>
              </a:ext>
            </a:extLst>
          </p:cNvPr>
          <p:cNvSpPr txBox="1"/>
          <p:nvPr/>
        </p:nvSpPr>
        <p:spPr>
          <a:xfrm>
            <a:off x="3048000" y="3298762"/>
            <a:ext cx="6096000" cy="36933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If appropriate for your project. Otherwise, remove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8081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lstStyle/>
          <a:p>
            <a:r>
              <a:rPr lang="en-US" dirty="0"/>
              <a:t>3.4 Design: </a:t>
            </a:r>
            <a:r>
              <a:rPr lang="en-BD" dirty="0"/>
              <a:t>Simulation</a:t>
            </a:r>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lstStyle/>
          <a:p>
            <a:r>
              <a:rPr lang="en-BD" dirty="0"/>
              <a:t>If you did simulation, add screenshots / screen captured video in the slide to show key features. For screen captures, you can remove this slide for the video and directly explain in the software. </a:t>
            </a:r>
            <a:r>
              <a:rPr lang="en-GB" dirty="0"/>
              <a:t>A</a:t>
            </a:r>
            <a:r>
              <a:rPr lang="en-BD" dirty="0"/>
              <a:t>dd screenshots for the PPT file that you will submit</a:t>
            </a:r>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11</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7" name="TextBox 6">
            <a:extLst>
              <a:ext uri="{FF2B5EF4-FFF2-40B4-BE49-F238E27FC236}">
                <a16:creationId xmlns:a16="http://schemas.microsoft.com/office/drawing/2014/main" id="{701C90DE-C491-4882-65FE-A74CF1FAD9F2}"/>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8" name="TextBox 7">
            <a:extLst>
              <a:ext uri="{FF2B5EF4-FFF2-40B4-BE49-F238E27FC236}">
                <a16:creationId xmlns:a16="http://schemas.microsoft.com/office/drawing/2014/main" id="{1F9F19C1-C5BF-165F-8752-9323DAC9150A}"/>
              </a:ext>
            </a:extLst>
          </p:cNvPr>
          <p:cNvSpPr txBox="1"/>
          <p:nvPr/>
        </p:nvSpPr>
        <p:spPr>
          <a:xfrm>
            <a:off x="3048000" y="3298762"/>
            <a:ext cx="6096000" cy="36933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If appropriate for your project. Otherwise, remove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59859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lstStyle/>
          <a:p>
            <a:r>
              <a:rPr lang="en-US" dirty="0"/>
              <a:t>3.5 CAD/Hardware Design</a:t>
            </a:r>
            <a:endParaRPr lang="en-BD" dirty="0"/>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lstStyle/>
          <a:p>
            <a:r>
              <a:rPr lang="en-BD" dirty="0"/>
              <a:t>If you did simulation, add screenshots / screen captured video in the slide to show key features. For screen captures, you can remove this slide for the video and directly explain in the software. </a:t>
            </a:r>
            <a:r>
              <a:rPr lang="en-GB" dirty="0"/>
              <a:t>A</a:t>
            </a:r>
            <a:r>
              <a:rPr lang="en-BD" dirty="0"/>
              <a:t>dd screenshots for the PPT file that you will submit</a:t>
            </a:r>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12</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7" name="TextBox 6">
            <a:extLst>
              <a:ext uri="{FF2B5EF4-FFF2-40B4-BE49-F238E27FC236}">
                <a16:creationId xmlns:a16="http://schemas.microsoft.com/office/drawing/2014/main" id="{701C90DE-C491-4882-65FE-A74CF1FAD9F2}"/>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8" name="TextBox 7">
            <a:extLst>
              <a:ext uri="{FF2B5EF4-FFF2-40B4-BE49-F238E27FC236}">
                <a16:creationId xmlns:a16="http://schemas.microsoft.com/office/drawing/2014/main" id="{1F9F19C1-C5BF-165F-8752-9323DAC9150A}"/>
              </a:ext>
            </a:extLst>
          </p:cNvPr>
          <p:cNvSpPr txBox="1"/>
          <p:nvPr/>
        </p:nvSpPr>
        <p:spPr>
          <a:xfrm>
            <a:off x="3048000" y="3298762"/>
            <a:ext cx="6096000" cy="36933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If appropriate for your project. Otherwise, remove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9577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lstStyle/>
          <a:p>
            <a:r>
              <a:rPr lang="en-US" dirty="0"/>
              <a:t>3.5 CAD/Hardware Design</a:t>
            </a:r>
            <a:endParaRPr lang="en-BD" dirty="0"/>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lstStyle/>
          <a:p>
            <a:r>
              <a:rPr lang="en-US" dirty="0"/>
              <a:t>Write here, add pictures</a:t>
            </a:r>
            <a:endParaRPr lang="en-BD" dirty="0"/>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13</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7" name="TextBox 6">
            <a:extLst>
              <a:ext uri="{FF2B5EF4-FFF2-40B4-BE49-F238E27FC236}">
                <a16:creationId xmlns:a16="http://schemas.microsoft.com/office/drawing/2014/main" id="{701C90DE-C491-4882-65FE-A74CF1FAD9F2}"/>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8" name="TextBox 7">
            <a:extLst>
              <a:ext uri="{FF2B5EF4-FFF2-40B4-BE49-F238E27FC236}">
                <a16:creationId xmlns:a16="http://schemas.microsoft.com/office/drawing/2014/main" id="{1F9F19C1-C5BF-165F-8752-9323DAC9150A}"/>
              </a:ext>
            </a:extLst>
          </p:cNvPr>
          <p:cNvSpPr txBox="1"/>
          <p:nvPr/>
        </p:nvSpPr>
        <p:spPr>
          <a:xfrm>
            <a:off x="3048000" y="3298762"/>
            <a:ext cx="6096000" cy="36933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If appropriate for your project. Otherwise, remove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11927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B970-D649-D94F-8664-96B04BAE1F15}"/>
              </a:ext>
            </a:extLst>
          </p:cNvPr>
          <p:cNvSpPr>
            <a:spLocks noGrp="1"/>
          </p:cNvSpPr>
          <p:nvPr>
            <p:ph type="title"/>
          </p:nvPr>
        </p:nvSpPr>
        <p:spPr>
          <a:xfrm>
            <a:off x="1066800" y="459714"/>
            <a:ext cx="10866120" cy="665656"/>
          </a:xfrm>
        </p:spPr>
        <p:txBody>
          <a:bodyPr>
            <a:normAutofit fontScale="90000"/>
          </a:bodyPr>
          <a:lstStyle/>
          <a:p>
            <a:r>
              <a:rPr lang="en-US" dirty="0"/>
              <a:t>3.6 Design: </a:t>
            </a:r>
            <a:r>
              <a:rPr lang="en-BD" dirty="0"/>
              <a:t>PCB Layout and 3d rendering</a:t>
            </a:r>
          </a:p>
        </p:txBody>
      </p:sp>
      <p:sp>
        <p:nvSpPr>
          <p:cNvPr id="3" name="Content Placeholder 2">
            <a:extLst>
              <a:ext uri="{FF2B5EF4-FFF2-40B4-BE49-F238E27FC236}">
                <a16:creationId xmlns:a16="http://schemas.microsoft.com/office/drawing/2014/main" id="{C4D0F347-53A9-8047-88A2-4DC8C452F581}"/>
              </a:ext>
            </a:extLst>
          </p:cNvPr>
          <p:cNvSpPr>
            <a:spLocks noGrp="1"/>
          </p:cNvSpPr>
          <p:nvPr>
            <p:ph idx="1"/>
          </p:nvPr>
        </p:nvSpPr>
        <p:spPr/>
        <p:txBody>
          <a:bodyPr/>
          <a:lstStyle/>
          <a:p>
            <a:r>
              <a:rPr lang="en-BD" dirty="0"/>
              <a:t>PCB layout design of your project (add picture and briefly show it in video), and 3d rendering.</a:t>
            </a:r>
          </a:p>
          <a:p>
            <a:r>
              <a:rPr lang="en-BD" dirty="0"/>
              <a:t>(in proteus, it is possible to do the 3d render, just take a screen shot of that)</a:t>
            </a:r>
          </a:p>
        </p:txBody>
      </p:sp>
      <p:sp>
        <p:nvSpPr>
          <p:cNvPr id="6" name="Slide Number Placeholder 5">
            <a:extLst>
              <a:ext uri="{FF2B5EF4-FFF2-40B4-BE49-F238E27FC236}">
                <a16:creationId xmlns:a16="http://schemas.microsoft.com/office/drawing/2014/main" id="{36698FA6-9BAA-4542-B217-33D440FE8CD2}"/>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14</a:t>
            </a:fld>
            <a:endParaRPr lang="en-BD"/>
          </a:p>
        </p:txBody>
      </p:sp>
      <p:pic>
        <p:nvPicPr>
          <p:cNvPr id="3074" name="Picture 2" descr="Smart solar charge controller using microcontroller">
            <a:extLst>
              <a:ext uri="{FF2B5EF4-FFF2-40B4-BE49-F238E27FC236}">
                <a16:creationId xmlns:a16="http://schemas.microsoft.com/office/drawing/2014/main" id="{0FEBDC6D-0EB9-1848-A87F-6D9F9745000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979920" y="3429000"/>
            <a:ext cx="5212080" cy="27709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mart solar charge controller using microcontroller">
            <a:extLst>
              <a:ext uri="{FF2B5EF4-FFF2-40B4-BE49-F238E27FC236}">
                <a16:creationId xmlns:a16="http://schemas.microsoft.com/office/drawing/2014/main" id="{3832B326-A892-674A-B1E2-1E39EED298D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423669" y="3429000"/>
            <a:ext cx="4132581" cy="2704487"/>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5">
            <a:extLst>
              <a:ext uri="{FF2B5EF4-FFF2-40B4-BE49-F238E27FC236}">
                <a16:creationId xmlns:a16="http://schemas.microsoft.com/office/drawing/2014/main" id="{8CC09E19-179A-6E40-996F-0A7D45FD17B3}"/>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E17F9CEA-A96B-EF46-A422-E1A080B073B1}"/>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11" name="TextBox 10">
            <a:extLst>
              <a:ext uri="{FF2B5EF4-FFF2-40B4-BE49-F238E27FC236}">
                <a16:creationId xmlns:a16="http://schemas.microsoft.com/office/drawing/2014/main" id="{32466E7D-FCC0-6475-DA94-99F290D8DFAC}"/>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821992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normAutofit/>
          </a:bodyPr>
          <a:lstStyle/>
          <a:p>
            <a:r>
              <a:rPr lang="en-US" dirty="0"/>
              <a:t>4 Implementation: Demonstration</a:t>
            </a:r>
            <a:endParaRPr lang="en-BD" dirty="0"/>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lstStyle/>
          <a:p>
            <a:endParaRPr lang="en-BD" dirty="0"/>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15</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7" name="TextBox 6">
            <a:extLst>
              <a:ext uri="{FF2B5EF4-FFF2-40B4-BE49-F238E27FC236}">
                <a16:creationId xmlns:a16="http://schemas.microsoft.com/office/drawing/2014/main" id="{3E4061DF-15B4-7C2D-0015-360B217227BD}"/>
              </a:ext>
            </a:extLst>
          </p:cNvPr>
          <p:cNvSpPr txBox="1"/>
          <p:nvPr/>
        </p:nvSpPr>
        <p:spPr>
          <a:xfrm>
            <a:off x="7863840" y="2505670"/>
            <a:ext cx="3261360" cy="1754326"/>
          </a:xfrm>
          <a:prstGeom prst="rect">
            <a:avLst/>
          </a:prstGeom>
          <a:noFill/>
        </p:spPr>
        <p:txBody>
          <a:bodyPr wrap="square" rtlCol="0">
            <a:spAutoFit/>
          </a:bodyPr>
          <a:lstStyle/>
          <a:p>
            <a:r>
              <a:rPr lang="en-BD" dirty="0">
                <a:solidFill>
                  <a:srgbClr val="0432FF"/>
                </a:solidFill>
              </a:rPr>
              <a:t>If you could implement the project in hardware</a:t>
            </a:r>
            <a:r>
              <a:rPr lang="en-US" dirty="0">
                <a:solidFill>
                  <a:srgbClr val="0432FF"/>
                </a:solidFill>
              </a:rPr>
              <a:t> (even in a breadboard)</a:t>
            </a:r>
            <a:r>
              <a:rPr lang="en-BD" dirty="0">
                <a:solidFill>
                  <a:srgbClr val="0432FF"/>
                </a:solidFill>
              </a:rPr>
              <a:t>, add </a:t>
            </a:r>
            <a:r>
              <a:rPr lang="en-US" dirty="0">
                <a:solidFill>
                  <a:srgbClr val="0432FF"/>
                </a:solidFill>
              </a:rPr>
              <a:t>it in the slide. You may also add a short (no more than 20 second) video</a:t>
            </a:r>
            <a:endParaRPr lang="en-BD" dirty="0">
              <a:solidFill>
                <a:srgbClr val="0432FF"/>
              </a:solidFill>
            </a:endParaRPr>
          </a:p>
        </p:txBody>
      </p:sp>
      <p:sp>
        <p:nvSpPr>
          <p:cNvPr id="8" name="TextBox 7">
            <a:extLst>
              <a:ext uri="{FF2B5EF4-FFF2-40B4-BE49-F238E27FC236}">
                <a16:creationId xmlns:a16="http://schemas.microsoft.com/office/drawing/2014/main" id="{43A6C0C1-621F-E056-4A53-0C0EC105CA5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1358462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normAutofit/>
          </a:bodyPr>
          <a:lstStyle/>
          <a:p>
            <a:r>
              <a:rPr lang="en-US" dirty="0"/>
              <a:t>4.1 Implementation: Photo </a:t>
            </a:r>
            <a:r>
              <a:rPr lang="en-US" dirty="0" err="1"/>
              <a:t>Gallary</a:t>
            </a:r>
            <a:endParaRPr lang="en-BD" dirty="0"/>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normAutofit/>
          </a:bodyPr>
          <a:lstStyle/>
          <a:p>
            <a:endParaRPr lang="en-BD" sz="3600" dirty="0"/>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16</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7" name="TextBox 6">
            <a:extLst>
              <a:ext uri="{FF2B5EF4-FFF2-40B4-BE49-F238E27FC236}">
                <a16:creationId xmlns:a16="http://schemas.microsoft.com/office/drawing/2014/main" id="{3E4061DF-15B4-7C2D-0015-360B217227BD}"/>
              </a:ext>
            </a:extLst>
          </p:cNvPr>
          <p:cNvSpPr txBox="1"/>
          <p:nvPr/>
        </p:nvSpPr>
        <p:spPr>
          <a:xfrm>
            <a:off x="7863840" y="2505670"/>
            <a:ext cx="3261360" cy="923330"/>
          </a:xfrm>
          <a:prstGeom prst="rect">
            <a:avLst/>
          </a:prstGeom>
          <a:noFill/>
        </p:spPr>
        <p:txBody>
          <a:bodyPr wrap="square" rtlCol="0">
            <a:spAutoFit/>
          </a:bodyPr>
          <a:lstStyle/>
          <a:p>
            <a:r>
              <a:rPr lang="en-US" dirty="0">
                <a:solidFill>
                  <a:srgbClr val="0432FF"/>
                </a:solidFill>
              </a:rPr>
              <a:t>Add photos that demonstrate the key features of your project</a:t>
            </a:r>
            <a:endParaRPr lang="en-BD" dirty="0">
              <a:solidFill>
                <a:srgbClr val="0432FF"/>
              </a:solidFill>
            </a:endParaRPr>
          </a:p>
        </p:txBody>
      </p:sp>
      <p:sp>
        <p:nvSpPr>
          <p:cNvPr id="8" name="TextBox 7">
            <a:extLst>
              <a:ext uri="{FF2B5EF4-FFF2-40B4-BE49-F238E27FC236}">
                <a16:creationId xmlns:a16="http://schemas.microsoft.com/office/drawing/2014/main" id="{A1F92FCA-9F88-DE24-2D11-E2FF4AD30320}"/>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681849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F02C-1EFF-7D4C-B45F-42F0E37BA579}"/>
              </a:ext>
            </a:extLst>
          </p:cNvPr>
          <p:cNvSpPr>
            <a:spLocks noGrp="1"/>
          </p:cNvSpPr>
          <p:nvPr>
            <p:ph type="title"/>
          </p:nvPr>
        </p:nvSpPr>
        <p:spPr/>
        <p:txBody>
          <a:bodyPr>
            <a:normAutofit/>
          </a:bodyPr>
          <a:lstStyle/>
          <a:p>
            <a:r>
              <a:rPr lang="en-US" dirty="0"/>
              <a:t>5. Design Analysis and Evaluation</a:t>
            </a:r>
            <a:endParaRPr lang="en-BD" dirty="0"/>
          </a:p>
        </p:txBody>
      </p:sp>
      <p:sp>
        <p:nvSpPr>
          <p:cNvPr id="3" name="Content Placeholder 2">
            <a:extLst>
              <a:ext uri="{FF2B5EF4-FFF2-40B4-BE49-F238E27FC236}">
                <a16:creationId xmlns:a16="http://schemas.microsoft.com/office/drawing/2014/main" id="{9A5CCD3A-D4B0-7B41-958D-971CA047A6CD}"/>
              </a:ext>
            </a:extLst>
          </p:cNvPr>
          <p:cNvSpPr>
            <a:spLocks noGrp="1"/>
          </p:cNvSpPr>
          <p:nvPr>
            <p:ph idx="1"/>
          </p:nvPr>
        </p:nvSpPr>
        <p:spPr/>
        <p:txBody>
          <a:bodyPr>
            <a:normAutofit lnSpcReduction="10000"/>
          </a:bodyPr>
          <a:lstStyle/>
          <a:p>
            <a:r>
              <a:rPr lang="en-US" sz="3200" dirty="0"/>
              <a:t>5.1 Novelty</a:t>
            </a:r>
          </a:p>
          <a:p>
            <a:r>
              <a:rPr lang="en-US" sz="3200" dirty="0"/>
              <a:t>5.2 Design Considerations (PO(c))</a:t>
            </a:r>
          </a:p>
          <a:p>
            <a:r>
              <a:rPr lang="en-US" sz="3200" dirty="0"/>
              <a:t>5.3 Investigations (PO(d))</a:t>
            </a:r>
          </a:p>
          <a:p>
            <a:r>
              <a:rPr lang="en-US" sz="3200" dirty="0"/>
              <a:t>5.4 Limitations of Tools (PO(e))</a:t>
            </a:r>
          </a:p>
          <a:p>
            <a:r>
              <a:rPr lang="en-US" sz="3200" dirty="0"/>
              <a:t>5.5 Impact Assessment (PO(f))</a:t>
            </a:r>
          </a:p>
          <a:p>
            <a:r>
              <a:rPr lang="en-US" sz="3200" dirty="0"/>
              <a:t>5.6 Sustainability and </a:t>
            </a:r>
            <a:r>
              <a:rPr lang="en-US" sz="3200" dirty="0" err="1"/>
              <a:t>Envaronmental</a:t>
            </a:r>
            <a:r>
              <a:rPr lang="en-US" sz="3200" dirty="0"/>
              <a:t> Impact Evaluation (PO(g))</a:t>
            </a:r>
          </a:p>
          <a:p>
            <a:r>
              <a:rPr lang="en-US" sz="3200" dirty="0"/>
              <a:t>5.7 </a:t>
            </a:r>
            <a:r>
              <a:rPr lang="en-GB" sz="3200" dirty="0"/>
              <a:t>Ethical Issues (PO(h))</a:t>
            </a:r>
            <a:endParaRPr lang="en-US" sz="3200" dirty="0"/>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17</a:t>
            </a:fld>
            <a:endParaRPr lang="en-BD"/>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1B64B1C5-C192-DE4C-902D-771BC68213A6}"/>
              </a:ext>
            </a:extLst>
          </p:cNvPr>
          <p:cNvSpPr>
            <a:spLocks noGrp="1"/>
          </p:cNvSpPr>
          <p:nvPr>
            <p:ph type="ftr" sz="quarter" idx="11"/>
          </p:nvPr>
        </p:nvSpPr>
        <p:spPr>
          <a:xfrm>
            <a:off x="5257800" y="6482588"/>
            <a:ext cx="6153150" cy="375412"/>
          </a:xfrm>
        </p:spPr>
        <p:txBody>
          <a:bodyPr/>
          <a:lstStyle/>
          <a:p>
            <a:r>
              <a:rPr lang="en-BD" dirty="0"/>
              <a:t>Title of the Project</a:t>
            </a:r>
          </a:p>
        </p:txBody>
      </p:sp>
      <p:sp>
        <p:nvSpPr>
          <p:cNvPr id="11" name="TextBox 10">
            <a:extLst>
              <a:ext uri="{FF2B5EF4-FFF2-40B4-BE49-F238E27FC236}">
                <a16:creationId xmlns:a16="http://schemas.microsoft.com/office/drawing/2014/main" id="{D4290773-DEB7-F8A5-0DDE-98A3B08ED6E1}"/>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4287483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5.1 Novelty</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18</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8" name="TextBox 7">
            <a:extLst>
              <a:ext uri="{FF2B5EF4-FFF2-40B4-BE49-F238E27FC236}">
                <a16:creationId xmlns:a16="http://schemas.microsoft.com/office/drawing/2014/main" id="{ECAF0A11-390B-6ECC-3237-39367F48BDD7}"/>
              </a:ext>
            </a:extLst>
          </p:cNvPr>
          <p:cNvSpPr txBox="1"/>
          <p:nvPr/>
        </p:nvSpPr>
        <p:spPr>
          <a:xfrm>
            <a:off x="7863840" y="2505670"/>
            <a:ext cx="3261360" cy="646331"/>
          </a:xfrm>
          <a:prstGeom prst="rect">
            <a:avLst/>
          </a:prstGeom>
          <a:noFill/>
        </p:spPr>
        <p:txBody>
          <a:bodyPr wrap="square" rtlCol="0">
            <a:spAutoFit/>
          </a:bodyPr>
          <a:lstStyle/>
          <a:p>
            <a:r>
              <a:rPr lang="en-US" dirty="0">
                <a:solidFill>
                  <a:srgbClr val="0432FF"/>
                </a:solidFill>
              </a:rPr>
              <a:t>Explain why your design is novel</a:t>
            </a:r>
            <a:endParaRPr lang="en-BD" dirty="0">
              <a:solidFill>
                <a:srgbClr val="0432FF"/>
              </a:solidFill>
            </a:endParaRPr>
          </a:p>
        </p:txBody>
      </p:sp>
    </p:spTree>
    <p:extLst>
      <p:ext uri="{BB962C8B-B14F-4D97-AF65-F5344CB8AC3E}">
        <p14:creationId xmlns:p14="http://schemas.microsoft.com/office/powerpoint/2010/main" val="116225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5.2 Design Considerations (PO(c))</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r>
              <a:rPr lang="en-GB" dirty="0"/>
              <a:t>5.2.1	Considerations to public health and safety</a:t>
            </a:r>
          </a:p>
          <a:p>
            <a:r>
              <a:rPr lang="en-GB" dirty="0"/>
              <a:t>5.2.2	Considerations to environment </a:t>
            </a:r>
          </a:p>
          <a:p>
            <a:r>
              <a:rPr lang="en-GB" dirty="0"/>
              <a:t>5.2.3	Considerations to cultural and societal needs</a:t>
            </a:r>
          </a:p>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19</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836920" y="3790180"/>
            <a:ext cx="6096000" cy="2585323"/>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PO(c)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 Write short bullet points / summaries</a:t>
            </a: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Make multiple slides if needed, keeping the large title unchanged</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1515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5.3 Investigations (PO(d))</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r>
              <a:rPr lang="en-GB" dirty="0"/>
              <a:t>5.2.1	Considerations to public health and safety</a:t>
            </a:r>
          </a:p>
          <a:p>
            <a:r>
              <a:rPr lang="en-GB" dirty="0"/>
              <a:t>5.2.2	Considerations to environment </a:t>
            </a:r>
          </a:p>
          <a:p>
            <a:r>
              <a:rPr lang="en-GB" dirty="0"/>
              <a:t>5.2.3	Considerations to cultural and societal needs</a:t>
            </a:r>
          </a:p>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20</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836920" y="3790180"/>
            <a:ext cx="6096000" cy="286232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PO(d)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If not needed, remove this entire section. If needed, DO NOT Change the title of this section. Write short bullet points / summaries</a:t>
            </a:r>
          </a:p>
          <a:p>
            <a:endParaRPr lang="en-US" sz="1800" i="1" dirty="0">
              <a:solidFill>
                <a:srgbClr val="4F81BD"/>
              </a:solidFill>
              <a:effectLst/>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Make multiple slides if needed, keeping the large title unchanged</a:t>
            </a:r>
            <a:endParaRPr lang="en-GB" sz="1800" dirty="0">
              <a:effectLst/>
              <a:latin typeface="Times New Roman" panose="02020603050405020304" pitchFamily="18" charset="0"/>
              <a:ea typeface="Times New Roman" panose="02020603050405020304" pitchFamily="18" charset="0"/>
            </a:endParaRPr>
          </a:p>
          <a:p>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84346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5.4 </a:t>
            </a:r>
            <a:r>
              <a:rPr lang="en-GB" sz="4400" dirty="0"/>
              <a:t>Limitations of Tools (PO(e))</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21</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568678" y="3459980"/>
            <a:ext cx="6096000" cy="2862322"/>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PO(e)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  You need to write the technological limitations of your tools used, maximum limit, tolerances, probable errors</a:t>
            </a:r>
            <a:endParaRPr lang="en-GB" sz="1800" dirty="0">
              <a:effectLst/>
              <a:latin typeface="Times New Roman" panose="02020603050405020304" pitchFamily="18" charset="0"/>
              <a:ea typeface="Times New Roman" panose="02020603050405020304" pitchFamily="18" charset="0"/>
            </a:endParaRP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Write short bullet points / summaries</a:t>
            </a:r>
          </a:p>
        </p:txBody>
      </p:sp>
    </p:spTree>
    <p:extLst>
      <p:ext uri="{BB962C8B-B14F-4D97-AF65-F5344CB8AC3E}">
        <p14:creationId xmlns:p14="http://schemas.microsoft.com/office/powerpoint/2010/main" val="4216238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5.5 </a:t>
            </a:r>
            <a:r>
              <a:rPr lang="en-GB" sz="4400" dirty="0"/>
              <a:t>Impact Assessment (PO(f))</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r>
              <a:rPr lang="en-GB" dirty="0"/>
              <a:t>5.5.1	Assessment of Societal and Cultural Issues</a:t>
            </a:r>
          </a:p>
          <a:p>
            <a:r>
              <a:rPr lang="en-GB" dirty="0"/>
              <a:t>5.5.2	Assessment of Health and Safety Issues</a:t>
            </a:r>
          </a:p>
          <a:p>
            <a:r>
              <a:rPr lang="en-GB" dirty="0"/>
              <a:t>5.5.3	Assessment of Legal Issues </a:t>
            </a:r>
          </a:p>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22</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836920" y="2876006"/>
            <a:ext cx="6096000" cy="3416320"/>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PO(f)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Write short bullet points / summaries</a:t>
            </a: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Make multiple slides if needed, keeping the large title unchanged</a:t>
            </a:r>
            <a:endParaRPr lang="en-GB" sz="1800" dirty="0">
              <a:effectLst/>
              <a:latin typeface="Times New Roman" panose="02020603050405020304" pitchFamily="18" charset="0"/>
              <a:ea typeface="Times New Roman" panose="02020603050405020304" pitchFamily="18" charset="0"/>
            </a:endParaRPr>
          </a:p>
          <a:p>
            <a:endParaRPr lang="en-US" sz="1800" i="1" dirty="0">
              <a:solidFill>
                <a:srgbClr val="4F81BD"/>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25246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5.6 </a:t>
            </a:r>
            <a:r>
              <a:rPr lang="en-GB" sz="4400" dirty="0"/>
              <a:t>Sustainability Evaluation (PO(g))</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r>
              <a:rPr lang="en-GB" dirty="0"/>
              <a:t>5.5.1	Assessment of Societal and Cultural Issues</a:t>
            </a:r>
          </a:p>
          <a:p>
            <a:r>
              <a:rPr lang="en-GB" dirty="0"/>
              <a:t>5.5.2	Assessment of Health and Safety Issues</a:t>
            </a:r>
          </a:p>
          <a:p>
            <a:r>
              <a:rPr lang="en-GB" dirty="0"/>
              <a:t>5.5.3	Assessment of Legal Issues </a:t>
            </a:r>
          </a:p>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23</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836920" y="2876006"/>
            <a:ext cx="6096000" cy="3139321"/>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PO(g)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Write short bullet points / summaries</a:t>
            </a: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a:t>
            </a:r>
            <a:endParaRPr lang="en-GB" sz="1800" dirty="0">
              <a:effectLst/>
              <a:latin typeface="Times New Roman" panose="02020603050405020304" pitchFamily="18" charset="0"/>
              <a:ea typeface="Times New Roman" panose="02020603050405020304" pitchFamily="18" charset="0"/>
            </a:endParaRPr>
          </a:p>
          <a:p>
            <a:endParaRPr lang="en-US" sz="1800" i="1" dirty="0">
              <a:solidFill>
                <a:srgbClr val="4F81BD"/>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3555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r>
              <a:rPr lang="en-US" sz="4400" dirty="0"/>
              <a:t>5.7 </a:t>
            </a:r>
            <a:r>
              <a:rPr lang="en-GB" sz="4400" dirty="0"/>
              <a:t>Sustainability Evaluation (PO(g))</a:t>
            </a:r>
            <a:endParaRPr lang="en-GB" dirty="0"/>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p:txBody>
          <a:bodyPr/>
          <a:lstStyle/>
          <a:p>
            <a:endParaRPr lang="en-GB" dirty="0"/>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24</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8DBF744D-9F67-FA7D-0591-CA5EA3B57C12}"/>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E0B6DBB1-0ECF-7E88-6A58-831B47A29F95}"/>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1" name="TextBox 10">
            <a:extLst>
              <a:ext uri="{FF2B5EF4-FFF2-40B4-BE49-F238E27FC236}">
                <a16:creationId xmlns:a16="http://schemas.microsoft.com/office/drawing/2014/main" id="{F519E208-1CB7-5A16-CF2B-8CA89E26BADD}"/>
              </a:ext>
            </a:extLst>
          </p:cNvPr>
          <p:cNvSpPr txBox="1"/>
          <p:nvPr/>
        </p:nvSpPr>
        <p:spPr>
          <a:xfrm>
            <a:off x="5836920" y="2876006"/>
            <a:ext cx="6096000" cy="2862322"/>
          </a:xfrm>
          <a:prstGeom prst="rect">
            <a:avLst/>
          </a:prstGeom>
          <a:noFill/>
        </p:spPr>
        <p:txBody>
          <a:bodyPr wrap="square">
            <a:spAutoFit/>
          </a:bodyPr>
          <a:lstStyle/>
          <a:p>
            <a:r>
              <a:rPr lang="en-US" sz="1800" i="1" u="sng"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PO(h)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 </a:t>
            </a:r>
            <a:endParaRPr lang="en-GB" sz="1800" dirty="0">
              <a:effectLst/>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Write in details, how you applied ethical principles to solve this project. Write any issues where you faced ethical challenges and how you mitigated them. </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02626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50AC-A28B-BFBC-FBA4-9DE600AE3A7D}"/>
              </a:ext>
            </a:extLst>
          </p:cNvPr>
          <p:cNvSpPr>
            <a:spLocks noGrp="1"/>
          </p:cNvSpPr>
          <p:nvPr>
            <p:ph type="title"/>
          </p:nvPr>
        </p:nvSpPr>
        <p:spPr/>
        <p:txBody>
          <a:bodyPr>
            <a:noAutofit/>
          </a:bodyPr>
          <a:lstStyle/>
          <a:p>
            <a:r>
              <a:rPr lang="en-GB" sz="3600" dirty="0"/>
              <a:t>6. Reflection on Individual and Team work </a:t>
            </a:r>
          </a:p>
        </p:txBody>
      </p:sp>
      <p:sp>
        <p:nvSpPr>
          <p:cNvPr id="3" name="Content Placeholder 2">
            <a:extLst>
              <a:ext uri="{FF2B5EF4-FFF2-40B4-BE49-F238E27FC236}">
                <a16:creationId xmlns:a16="http://schemas.microsoft.com/office/drawing/2014/main" id="{8ADF71AF-DB81-A1C1-3DD7-359C91B48405}"/>
              </a:ext>
            </a:extLst>
          </p:cNvPr>
          <p:cNvSpPr>
            <a:spLocks noGrp="1"/>
          </p:cNvSpPr>
          <p:nvPr>
            <p:ph idx="1"/>
          </p:nvPr>
        </p:nvSpPr>
        <p:spPr/>
        <p:txBody>
          <a:bodyPr>
            <a:normAutofit/>
          </a:bodyPr>
          <a:lstStyle/>
          <a:p>
            <a:pPr marL="0" indent="0">
              <a:buNone/>
            </a:pPr>
            <a:r>
              <a:rPr lang="en-GB" sz="2800" dirty="0"/>
              <a:t>6.1  Individual Contribution of Each Member</a:t>
            </a:r>
          </a:p>
          <a:p>
            <a:pPr marL="0" indent="0">
              <a:buNone/>
            </a:pPr>
            <a:r>
              <a:rPr lang="en-GB" sz="2800" dirty="0"/>
              <a:t>6.2  Mode of </a:t>
            </a:r>
            <a:r>
              <a:rPr lang="en-GB" sz="2800" dirty="0" err="1"/>
              <a:t>TeamWork</a:t>
            </a:r>
            <a:endParaRPr lang="en-GB" sz="2800" dirty="0"/>
          </a:p>
          <a:p>
            <a:pPr marL="0" indent="0">
              <a:buNone/>
            </a:pPr>
            <a:r>
              <a:rPr lang="en-GB" sz="2800" dirty="0"/>
              <a:t>6.3  Diversity Statement of Team</a:t>
            </a:r>
          </a:p>
          <a:p>
            <a:pPr marL="0" indent="0">
              <a:buNone/>
            </a:pPr>
            <a:r>
              <a:rPr lang="en-GB" sz="2800" dirty="0"/>
              <a:t>6.4  Log Book of Project </a:t>
            </a:r>
            <a:r>
              <a:rPr lang="en-GB" sz="2800" dirty="0" err="1"/>
              <a:t>Impelementation</a:t>
            </a:r>
            <a:endParaRPr lang="en-GB" sz="2800" dirty="0"/>
          </a:p>
        </p:txBody>
      </p:sp>
      <p:sp>
        <p:nvSpPr>
          <p:cNvPr id="4" name="Slide Number Placeholder 3">
            <a:extLst>
              <a:ext uri="{FF2B5EF4-FFF2-40B4-BE49-F238E27FC236}">
                <a16:creationId xmlns:a16="http://schemas.microsoft.com/office/drawing/2014/main" id="{0BF24355-A269-4C7E-7377-5CDD2E38905F}"/>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25</a:t>
            </a:fld>
            <a:endParaRPr lang="en-BD"/>
          </a:p>
        </p:txBody>
      </p:sp>
      <p:sp>
        <p:nvSpPr>
          <p:cNvPr id="5" name="Date Placeholder 4">
            <a:extLst>
              <a:ext uri="{FF2B5EF4-FFF2-40B4-BE49-F238E27FC236}">
                <a16:creationId xmlns:a16="http://schemas.microsoft.com/office/drawing/2014/main" id="{90DA1799-EACD-1A8B-5E85-A9FC657B0715}"/>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492A33B4-1A80-9EB5-5592-98F22D4A49B8}"/>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9" name="TextBox 8">
            <a:extLst>
              <a:ext uri="{FF2B5EF4-FFF2-40B4-BE49-F238E27FC236}">
                <a16:creationId xmlns:a16="http://schemas.microsoft.com/office/drawing/2014/main" id="{6781362F-3C3E-5664-9751-6640D7AF577C}"/>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10" name="TextBox 9">
            <a:extLst>
              <a:ext uri="{FF2B5EF4-FFF2-40B4-BE49-F238E27FC236}">
                <a16:creationId xmlns:a16="http://schemas.microsoft.com/office/drawing/2014/main" id="{7AFFA09C-760E-4C9D-29DE-0E505D5249B9}"/>
              </a:ext>
            </a:extLst>
          </p:cNvPr>
          <p:cNvSpPr txBox="1"/>
          <p:nvPr/>
        </p:nvSpPr>
        <p:spPr>
          <a:xfrm>
            <a:off x="5457371" y="4514013"/>
            <a:ext cx="6096000" cy="1754326"/>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PO(h)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65090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50AC-A28B-BFBC-FBA4-9DE600AE3A7D}"/>
              </a:ext>
            </a:extLst>
          </p:cNvPr>
          <p:cNvSpPr>
            <a:spLocks noGrp="1"/>
          </p:cNvSpPr>
          <p:nvPr>
            <p:ph type="title"/>
          </p:nvPr>
        </p:nvSpPr>
        <p:spPr/>
        <p:txBody>
          <a:bodyPr>
            <a:noAutofit/>
          </a:bodyPr>
          <a:lstStyle/>
          <a:p>
            <a:r>
              <a:rPr lang="en-GB" sz="3600" dirty="0"/>
              <a:t>6.1 Individual Contribution of Each Member</a:t>
            </a:r>
          </a:p>
        </p:txBody>
      </p:sp>
      <p:sp>
        <p:nvSpPr>
          <p:cNvPr id="3" name="Content Placeholder 2">
            <a:extLst>
              <a:ext uri="{FF2B5EF4-FFF2-40B4-BE49-F238E27FC236}">
                <a16:creationId xmlns:a16="http://schemas.microsoft.com/office/drawing/2014/main" id="{8ADF71AF-DB81-A1C1-3DD7-359C91B48405}"/>
              </a:ext>
            </a:extLst>
          </p:cNvPr>
          <p:cNvSpPr>
            <a:spLocks noGrp="1"/>
          </p:cNvSpPr>
          <p:nvPr>
            <p:ph idx="1"/>
          </p:nvPr>
        </p:nvSpPr>
        <p:spPr/>
        <p:txBody>
          <a:bodyPr>
            <a:normAutofit/>
          </a:bodyPr>
          <a:lstStyle/>
          <a:p>
            <a:pPr marL="0" indent="0">
              <a:buNone/>
            </a:pPr>
            <a:r>
              <a:rPr lang="en-GB" sz="2800" dirty="0"/>
              <a:t>Explain what each member of the team did</a:t>
            </a:r>
          </a:p>
        </p:txBody>
      </p:sp>
      <p:sp>
        <p:nvSpPr>
          <p:cNvPr id="4" name="Slide Number Placeholder 3">
            <a:extLst>
              <a:ext uri="{FF2B5EF4-FFF2-40B4-BE49-F238E27FC236}">
                <a16:creationId xmlns:a16="http://schemas.microsoft.com/office/drawing/2014/main" id="{0BF24355-A269-4C7E-7377-5CDD2E38905F}"/>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26</a:t>
            </a:fld>
            <a:endParaRPr lang="en-BD"/>
          </a:p>
        </p:txBody>
      </p:sp>
      <p:sp>
        <p:nvSpPr>
          <p:cNvPr id="5" name="Date Placeholder 4">
            <a:extLst>
              <a:ext uri="{FF2B5EF4-FFF2-40B4-BE49-F238E27FC236}">
                <a16:creationId xmlns:a16="http://schemas.microsoft.com/office/drawing/2014/main" id="{90DA1799-EACD-1A8B-5E85-A9FC657B0715}"/>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492A33B4-1A80-9EB5-5592-98F22D4A49B8}"/>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67C5014D-E724-98D1-08B1-D54FCF40FA6F}"/>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9" name="TextBox 8">
            <a:extLst>
              <a:ext uri="{FF2B5EF4-FFF2-40B4-BE49-F238E27FC236}">
                <a16:creationId xmlns:a16="http://schemas.microsoft.com/office/drawing/2014/main" id="{2894D19D-F875-F7FF-8CB8-55569C3607E4}"/>
              </a:ext>
            </a:extLst>
          </p:cNvPr>
          <p:cNvSpPr txBox="1"/>
          <p:nvPr/>
        </p:nvSpPr>
        <p:spPr>
          <a:xfrm>
            <a:off x="3048000" y="2606265"/>
            <a:ext cx="6096000" cy="1754326"/>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PO(h)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08797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50AC-A28B-BFBC-FBA4-9DE600AE3A7D}"/>
              </a:ext>
            </a:extLst>
          </p:cNvPr>
          <p:cNvSpPr>
            <a:spLocks noGrp="1"/>
          </p:cNvSpPr>
          <p:nvPr>
            <p:ph type="title"/>
          </p:nvPr>
        </p:nvSpPr>
        <p:spPr/>
        <p:txBody>
          <a:bodyPr>
            <a:noAutofit/>
          </a:bodyPr>
          <a:lstStyle/>
          <a:p>
            <a:r>
              <a:rPr lang="en-GB" sz="3600" dirty="0"/>
              <a:t>6.2 Mode of </a:t>
            </a:r>
            <a:r>
              <a:rPr lang="en-GB" sz="3600" dirty="0" err="1"/>
              <a:t>TeamWork</a:t>
            </a:r>
            <a:r>
              <a:rPr lang="en-GB" sz="3600" dirty="0"/>
              <a:t> and Diversity</a:t>
            </a:r>
          </a:p>
        </p:txBody>
      </p:sp>
      <p:sp>
        <p:nvSpPr>
          <p:cNvPr id="3" name="Content Placeholder 2">
            <a:extLst>
              <a:ext uri="{FF2B5EF4-FFF2-40B4-BE49-F238E27FC236}">
                <a16:creationId xmlns:a16="http://schemas.microsoft.com/office/drawing/2014/main" id="{8ADF71AF-DB81-A1C1-3DD7-359C91B48405}"/>
              </a:ext>
            </a:extLst>
          </p:cNvPr>
          <p:cNvSpPr>
            <a:spLocks noGrp="1"/>
          </p:cNvSpPr>
          <p:nvPr>
            <p:ph idx="1"/>
          </p:nvPr>
        </p:nvSpPr>
        <p:spPr/>
        <p:txBody>
          <a:bodyPr>
            <a:normAutofit/>
          </a:bodyPr>
          <a:lstStyle/>
          <a:p>
            <a:pPr marL="0" indent="0">
              <a:buNone/>
            </a:pPr>
            <a:r>
              <a:rPr lang="en-GB" sz="2800" dirty="0"/>
              <a:t>Explain how your team is a diverse representation</a:t>
            </a:r>
          </a:p>
          <a:p>
            <a:pPr marL="0" indent="0">
              <a:buNone/>
            </a:pPr>
            <a:endParaRPr lang="en-GB" sz="2800" dirty="0"/>
          </a:p>
          <a:p>
            <a:pPr marL="0" indent="0">
              <a:buNone/>
            </a:pPr>
            <a:r>
              <a:rPr lang="en-GB" sz="2800" dirty="0"/>
              <a:t>Also explain how you completed the project as a team. Add pictures if necessary (even funny pictures are okay here). </a:t>
            </a:r>
          </a:p>
        </p:txBody>
      </p:sp>
      <p:sp>
        <p:nvSpPr>
          <p:cNvPr id="4" name="Slide Number Placeholder 3">
            <a:extLst>
              <a:ext uri="{FF2B5EF4-FFF2-40B4-BE49-F238E27FC236}">
                <a16:creationId xmlns:a16="http://schemas.microsoft.com/office/drawing/2014/main" id="{0BF24355-A269-4C7E-7377-5CDD2E38905F}"/>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27</a:t>
            </a:fld>
            <a:endParaRPr lang="en-BD"/>
          </a:p>
        </p:txBody>
      </p:sp>
      <p:sp>
        <p:nvSpPr>
          <p:cNvPr id="5" name="Date Placeholder 4">
            <a:extLst>
              <a:ext uri="{FF2B5EF4-FFF2-40B4-BE49-F238E27FC236}">
                <a16:creationId xmlns:a16="http://schemas.microsoft.com/office/drawing/2014/main" id="{90DA1799-EACD-1A8B-5E85-A9FC657B0715}"/>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5">
            <a:extLst>
              <a:ext uri="{FF2B5EF4-FFF2-40B4-BE49-F238E27FC236}">
                <a16:creationId xmlns:a16="http://schemas.microsoft.com/office/drawing/2014/main" id="{492A33B4-1A80-9EB5-5592-98F22D4A49B8}"/>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32A2B3C6-2150-2AC1-2313-1E012018FF6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9" name="TextBox 8">
            <a:extLst>
              <a:ext uri="{FF2B5EF4-FFF2-40B4-BE49-F238E27FC236}">
                <a16:creationId xmlns:a16="http://schemas.microsoft.com/office/drawing/2014/main" id="{B12A8F01-6B95-8CFD-1AE4-D1AD039601CD}"/>
              </a:ext>
            </a:extLst>
          </p:cNvPr>
          <p:cNvSpPr txBox="1"/>
          <p:nvPr/>
        </p:nvSpPr>
        <p:spPr>
          <a:xfrm>
            <a:off x="5836920" y="4345076"/>
            <a:ext cx="6096000" cy="1754326"/>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PO(h)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86108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50AC-A28B-BFBC-FBA4-9DE600AE3A7D}"/>
              </a:ext>
            </a:extLst>
          </p:cNvPr>
          <p:cNvSpPr>
            <a:spLocks noGrp="1"/>
          </p:cNvSpPr>
          <p:nvPr>
            <p:ph type="title"/>
          </p:nvPr>
        </p:nvSpPr>
        <p:spPr/>
        <p:txBody>
          <a:bodyPr>
            <a:noAutofit/>
          </a:bodyPr>
          <a:lstStyle/>
          <a:p>
            <a:r>
              <a:rPr lang="en-GB" sz="3600" dirty="0"/>
              <a:t>6.3 Logbook of Project</a:t>
            </a:r>
          </a:p>
        </p:txBody>
      </p:sp>
      <p:sp>
        <p:nvSpPr>
          <p:cNvPr id="3" name="Content Placeholder 2">
            <a:extLst>
              <a:ext uri="{FF2B5EF4-FFF2-40B4-BE49-F238E27FC236}">
                <a16:creationId xmlns:a16="http://schemas.microsoft.com/office/drawing/2014/main" id="{8ADF71AF-DB81-A1C1-3DD7-359C91B48405}"/>
              </a:ext>
            </a:extLst>
          </p:cNvPr>
          <p:cNvSpPr>
            <a:spLocks noGrp="1"/>
          </p:cNvSpPr>
          <p:nvPr>
            <p:ph idx="1"/>
          </p:nvPr>
        </p:nvSpPr>
        <p:spPr/>
        <p:txBody>
          <a:bodyPr>
            <a:normAutofit/>
          </a:bodyPr>
          <a:lstStyle/>
          <a:p>
            <a:pPr marL="0" indent="0">
              <a:buNone/>
            </a:pPr>
            <a:r>
              <a:rPr lang="en-GB" sz="2800" dirty="0"/>
              <a:t>Briefly show the logbook of your project here (screenshot)</a:t>
            </a:r>
          </a:p>
          <a:p>
            <a:pPr marL="0" indent="0">
              <a:buNone/>
            </a:pPr>
            <a:r>
              <a:rPr lang="en-US" sz="2800" dirty="0"/>
              <a:t>In presentation, just show this slide, no need to explain.</a:t>
            </a:r>
            <a:endParaRPr lang="en-GB" sz="2800" dirty="0"/>
          </a:p>
        </p:txBody>
      </p:sp>
      <p:sp>
        <p:nvSpPr>
          <p:cNvPr id="4" name="Slide Number Placeholder 3">
            <a:extLst>
              <a:ext uri="{FF2B5EF4-FFF2-40B4-BE49-F238E27FC236}">
                <a16:creationId xmlns:a16="http://schemas.microsoft.com/office/drawing/2014/main" id="{0BF24355-A269-4C7E-7377-5CDD2E38905F}"/>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28</a:t>
            </a:fld>
            <a:endParaRPr lang="en-BD"/>
          </a:p>
        </p:txBody>
      </p:sp>
      <p:sp>
        <p:nvSpPr>
          <p:cNvPr id="5" name="Date Placeholder 4">
            <a:extLst>
              <a:ext uri="{FF2B5EF4-FFF2-40B4-BE49-F238E27FC236}">
                <a16:creationId xmlns:a16="http://schemas.microsoft.com/office/drawing/2014/main" id="{90DA1799-EACD-1A8B-5E85-A9FC657B0715}"/>
              </a:ext>
            </a:extLst>
          </p:cNvPr>
          <p:cNvSpPr>
            <a:spLocks noGrp="1"/>
          </p:cNvSpPr>
          <p:nvPr>
            <p:ph type="dt" sz="half" idx="10"/>
          </p:nvPr>
        </p:nvSpPr>
        <p:spPr>
          <a:xfrm>
            <a:off x="432486" y="6501637"/>
            <a:ext cx="4825314" cy="375412"/>
          </a:xfrm>
        </p:spPr>
        <p:txBody>
          <a:bodyPr/>
          <a:lstStyle/>
          <a:p>
            <a:r>
              <a:rPr lang="en-US" dirty="0"/>
              <a:t>EEE 416 (2022) – Final Project Group A.XY</a:t>
            </a:r>
            <a:endParaRPr lang="en-BD" dirty="0"/>
          </a:p>
        </p:txBody>
      </p:sp>
      <p:sp>
        <p:nvSpPr>
          <p:cNvPr id="6" name="Footer Placeholder 5">
            <a:extLst>
              <a:ext uri="{FF2B5EF4-FFF2-40B4-BE49-F238E27FC236}">
                <a16:creationId xmlns:a16="http://schemas.microsoft.com/office/drawing/2014/main" id="{492A33B4-1A80-9EB5-5592-98F22D4A49B8}"/>
              </a:ext>
            </a:extLst>
          </p:cNvPr>
          <p:cNvSpPr>
            <a:spLocks noGrp="1"/>
          </p:cNvSpPr>
          <p:nvPr>
            <p:ph type="ftr" sz="quarter" idx="11"/>
          </p:nvPr>
        </p:nvSpPr>
        <p:spPr>
          <a:xfrm>
            <a:off x="5257800" y="6482588"/>
            <a:ext cx="6153150" cy="375412"/>
          </a:xfrm>
        </p:spPr>
        <p:txBody>
          <a:bodyPr/>
          <a:lstStyle/>
          <a:p>
            <a:r>
              <a:rPr lang="en-BD"/>
              <a:t>Title of the Project</a:t>
            </a:r>
            <a:endParaRPr lang="en-BD" dirty="0"/>
          </a:p>
        </p:txBody>
      </p:sp>
      <p:sp>
        <p:nvSpPr>
          <p:cNvPr id="7" name="TextBox 6">
            <a:extLst>
              <a:ext uri="{FF2B5EF4-FFF2-40B4-BE49-F238E27FC236}">
                <a16:creationId xmlns:a16="http://schemas.microsoft.com/office/drawing/2014/main" id="{36DCD518-4277-8C37-FE7B-137663AD0A5D}"/>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
        <p:nvSpPr>
          <p:cNvPr id="9" name="TextBox 8">
            <a:extLst>
              <a:ext uri="{FF2B5EF4-FFF2-40B4-BE49-F238E27FC236}">
                <a16:creationId xmlns:a16="http://schemas.microsoft.com/office/drawing/2014/main" id="{AB43681B-70A4-F806-5C6C-5AA5718B492C}"/>
              </a:ext>
            </a:extLst>
          </p:cNvPr>
          <p:cNvSpPr txBox="1"/>
          <p:nvPr/>
        </p:nvSpPr>
        <p:spPr>
          <a:xfrm>
            <a:off x="5575935" y="3610154"/>
            <a:ext cx="6096000" cy="1754326"/>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PO(h)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84443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EE142-B5BC-53DC-E18D-F905E8753116}"/>
              </a:ext>
            </a:extLst>
          </p:cNvPr>
          <p:cNvSpPr>
            <a:spLocks noGrp="1"/>
          </p:cNvSpPr>
          <p:nvPr>
            <p:ph type="title"/>
          </p:nvPr>
        </p:nvSpPr>
        <p:spPr>
          <a:xfrm>
            <a:off x="1066800" y="459714"/>
            <a:ext cx="10501086" cy="729006"/>
          </a:xfrm>
        </p:spPr>
        <p:txBody>
          <a:bodyPr>
            <a:noAutofit/>
          </a:bodyPr>
          <a:lstStyle/>
          <a:p>
            <a:r>
              <a:rPr lang="en-GB" sz="3600" dirty="0"/>
              <a:t>7 Communication to External Stakeholders (PO(j))</a:t>
            </a:r>
          </a:p>
        </p:txBody>
      </p:sp>
      <p:sp>
        <p:nvSpPr>
          <p:cNvPr id="3" name="Content Placeholder 2">
            <a:extLst>
              <a:ext uri="{FF2B5EF4-FFF2-40B4-BE49-F238E27FC236}">
                <a16:creationId xmlns:a16="http://schemas.microsoft.com/office/drawing/2014/main" id="{8641BF15-8FBB-ACD0-428B-4F211184E55B}"/>
              </a:ext>
            </a:extLst>
          </p:cNvPr>
          <p:cNvSpPr>
            <a:spLocks noGrp="1"/>
          </p:cNvSpPr>
          <p:nvPr>
            <p:ph idx="1"/>
          </p:nvPr>
        </p:nvSpPr>
        <p:spPr/>
        <p:txBody>
          <a:bodyPr>
            <a:normAutofit/>
          </a:bodyPr>
          <a:lstStyle/>
          <a:p>
            <a:pPr marL="742950" lvl="1" indent="-285750">
              <a:lnSpc>
                <a:spcPts val="1465"/>
              </a:lnSpc>
              <a:buFont typeface="+mj-lt"/>
              <a:buAutoNum type="arabicPeriod"/>
            </a:pPr>
            <a:r>
              <a:rPr lang="en-US" sz="3200" b="1" dirty="0" err="1">
                <a:effectLst/>
                <a:latin typeface="Times New Roman" panose="02020603050405020304" pitchFamily="18" charset="0"/>
                <a:ea typeface="Times New Roman" panose="02020603050405020304" pitchFamily="18" charset="0"/>
              </a:rPr>
              <a:t>Github</a:t>
            </a:r>
            <a:r>
              <a:rPr lang="en-US" sz="3200" b="1" dirty="0">
                <a:effectLst/>
                <a:latin typeface="Times New Roman" panose="02020603050405020304" pitchFamily="18" charset="0"/>
                <a:ea typeface="Times New Roman" panose="02020603050405020304" pitchFamily="18" charset="0"/>
              </a:rPr>
              <a:t> Link</a:t>
            </a:r>
            <a:endParaRPr lang="en-GB" sz="3200" dirty="0">
              <a:effectLst/>
              <a:latin typeface="Times New Roman" panose="02020603050405020304" pitchFamily="18" charset="0"/>
              <a:ea typeface="Times New Roman" panose="02020603050405020304" pitchFamily="18" charset="0"/>
            </a:endParaRPr>
          </a:p>
          <a:p>
            <a:pPr marL="742950" lvl="1" indent="-285750">
              <a:lnSpc>
                <a:spcPct val="107000"/>
              </a:lnSpc>
              <a:spcBef>
                <a:spcPts val="1800"/>
              </a:spcBef>
              <a:spcAft>
                <a:spcPts val="1800"/>
              </a:spcAft>
              <a:buFont typeface="+mj-lt"/>
              <a:buAutoNum type="arabicPeriod"/>
            </a:pPr>
            <a:r>
              <a:rPr lang="en-US" sz="3200" b="1" kern="0" dirty="0">
                <a:effectLst/>
                <a:latin typeface="Times New Roman" panose="02020603050405020304" pitchFamily="18" charset="0"/>
                <a:ea typeface="Times New Roman" panose="02020603050405020304" pitchFamily="18" charset="0"/>
              </a:rPr>
              <a:t>YouTube Link</a:t>
            </a:r>
            <a:endParaRPr lang="en-GB" sz="3200" b="1" kern="0" dirty="0">
              <a:effectLst/>
              <a:latin typeface="Times New Roman" panose="02020603050405020304" pitchFamily="18" charset="0"/>
              <a:ea typeface="Times New Roman" panose="02020603050405020304" pitchFamily="18" charset="0"/>
            </a:endParaRPr>
          </a:p>
          <a:p>
            <a:endParaRPr lang="en-GB" sz="4000" dirty="0"/>
          </a:p>
        </p:txBody>
      </p:sp>
      <p:sp>
        <p:nvSpPr>
          <p:cNvPr id="4" name="Date Placeholder 3">
            <a:extLst>
              <a:ext uri="{FF2B5EF4-FFF2-40B4-BE49-F238E27FC236}">
                <a16:creationId xmlns:a16="http://schemas.microsoft.com/office/drawing/2014/main" id="{8099EA69-7441-F62C-7A1E-2B202B4507DB}"/>
              </a:ext>
            </a:extLst>
          </p:cNvPr>
          <p:cNvSpPr>
            <a:spLocks noGrp="1"/>
          </p:cNvSpPr>
          <p:nvPr>
            <p:ph type="dt" sz="half" idx="10"/>
          </p:nvPr>
        </p:nvSpPr>
        <p:spPr/>
        <p:txBody>
          <a:bodyPr/>
          <a:lstStyle/>
          <a:p>
            <a:r>
              <a:rPr lang="en-US"/>
              <a:t>EEE 416 (2022) – Final Project Group A.XY</a:t>
            </a:r>
            <a:endParaRPr lang="en-BD" dirty="0"/>
          </a:p>
        </p:txBody>
      </p:sp>
      <p:sp>
        <p:nvSpPr>
          <p:cNvPr id="5" name="Footer Placeholder 4">
            <a:extLst>
              <a:ext uri="{FF2B5EF4-FFF2-40B4-BE49-F238E27FC236}">
                <a16:creationId xmlns:a16="http://schemas.microsoft.com/office/drawing/2014/main" id="{B5B9165D-FE70-97DE-3B1B-533E1CD11DCB}"/>
              </a:ext>
            </a:extLst>
          </p:cNvPr>
          <p:cNvSpPr>
            <a:spLocks noGrp="1"/>
          </p:cNvSpPr>
          <p:nvPr>
            <p:ph type="ftr" sz="quarter" idx="11"/>
          </p:nvPr>
        </p:nvSpPr>
        <p:spPr/>
        <p:txBody>
          <a:bodyPr/>
          <a:lstStyle/>
          <a:p>
            <a:pPr algn="ctr"/>
            <a:r>
              <a:rPr lang="en-BD"/>
              <a:t>Title of the Project</a:t>
            </a:r>
            <a:endParaRPr lang="en-BD" dirty="0"/>
          </a:p>
        </p:txBody>
      </p:sp>
      <p:sp>
        <p:nvSpPr>
          <p:cNvPr id="6" name="Slide Number Placeholder 5">
            <a:extLst>
              <a:ext uri="{FF2B5EF4-FFF2-40B4-BE49-F238E27FC236}">
                <a16:creationId xmlns:a16="http://schemas.microsoft.com/office/drawing/2014/main" id="{A0DA5771-CEAF-4EBF-41FF-6FB6B89769AB}"/>
              </a:ext>
            </a:extLst>
          </p:cNvPr>
          <p:cNvSpPr>
            <a:spLocks noGrp="1"/>
          </p:cNvSpPr>
          <p:nvPr>
            <p:ph type="sldNum" sz="quarter" idx="12"/>
          </p:nvPr>
        </p:nvSpPr>
        <p:spPr/>
        <p:txBody>
          <a:bodyPr/>
          <a:lstStyle/>
          <a:p>
            <a:fld id="{E9C29D53-9981-884B-B5B6-B5743DF81FD1}" type="slidenum">
              <a:rPr lang="en-BD" smtClean="0"/>
              <a:pPr/>
              <a:t>29</a:t>
            </a:fld>
            <a:endParaRPr lang="en-BD" dirty="0"/>
          </a:p>
        </p:txBody>
      </p:sp>
      <p:sp>
        <p:nvSpPr>
          <p:cNvPr id="10" name="TextBox 9">
            <a:extLst>
              <a:ext uri="{FF2B5EF4-FFF2-40B4-BE49-F238E27FC236}">
                <a16:creationId xmlns:a16="http://schemas.microsoft.com/office/drawing/2014/main" id="{0F887EE9-4FBA-4FF8-D5BC-A61338EE605A}"/>
              </a:ext>
            </a:extLst>
          </p:cNvPr>
          <p:cNvSpPr txBox="1"/>
          <p:nvPr/>
        </p:nvSpPr>
        <p:spPr>
          <a:xfrm>
            <a:off x="3048000" y="2475023"/>
            <a:ext cx="6096000" cy="2031325"/>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PO(j)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 Also, communication marks would consist writing this report properly with correct formatting. </a:t>
            </a:r>
            <a:endParaRPr lang="en-GB" dirty="0"/>
          </a:p>
        </p:txBody>
      </p:sp>
      <p:sp>
        <p:nvSpPr>
          <p:cNvPr id="12" name="TextBox 11">
            <a:extLst>
              <a:ext uri="{FF2B5EF4-FFF2-40B4-BE49-F238E27FC236}">
                <a16:creationId xmlns:a16="http://schemas.microsoft.com/office/drawing/2014/main" id="{8733F812-8B56-69FB-0E07-72827542CF1E}"/>
              </a:ext>
            </a:extLst>
          </p:cNvPr>
          <p:cNvSpPr txBox="1"/>
          <p:nvPr/>
        </p:nvSpPr>
        <p:spPr>
          <a:xfrm>
            <a:off x="432486" y="4728262"/>
            <a:ext cx="11759514" cy="1477328"/>
          </a:xfrm>
          <a:prstGeom prst="rect">
            <a:avLst/>
          </a:prstGeom>
          <a:noFill/>
        </p:spPr>
        <p:txBody>
          <a:bodyPr wrap="square" rtlCol="0">
            <a:spAutoFit/>
          </a:bodyPr>
          <a:lstStyle/>
          <a:p>
            <a:r>
              <a:rPr lang="en-BD" dirty="0">
                <a:solidFill>
                  <a:srgbClr val="0432FF"/>
                </a:solidFill>
              </a:rPr>
              <a:t>If you could implement the project in hardware</a:t>
            </a:r>
            <a:r>
              <a:rPr lang="en-US" dirty="0">
                <a:solidFill>
                  <a:srgbClr val="0432FF"/>
                </a:solidFill>
              </a:rPr>
              <a:t> (even in a breadboard)</a:t>
            </a:r>
            <a:r>
              <a:rPr lang="en-BD" dirty="0">
                <a:solidFill>
                  <a:srgbClr val="0432FF"/>
                </a:solidFill>
              </a:rPr>
              <a:t>, add </a:t>
            </a:r>
            <a:r>
              <a:rPr lang="en-US" dirty="0">
                <a:solidFill>
                  <a:srgbClr val="0432FF"/>
                </a:solidFill>
              </a:rPr>
              <a:t>it in the slide. You may also add a short (no more than 20 second) video. The link to the presentation needs to be added. </a:t>
            </a:r>
          </a:p>
          <a:p>
            <a:endParaRPr lang="en-US" dirty="0">
              <a:solidFill>
                <a:srgbClr val="0432FF"/>
              </a:solidFill>
            </a:endParaRPr>
          </a:p>
          <a:p>
            <a:r>
              <a:rPr lang="en-US" dirty="0">
                <a:solidFill>
                  <a:srgbClr val="0432FF"/>
                </a:solidFill>
              </a:rPr>
              <a:t>The video title should be Project title | Section .Group | EEE 416(2022) Final Project | Dept of EEE, BUET</a:t>
            </a:r>
          </a:p>
          <a:p>
            <a:r>
              <a:rPr lang="en-US" dirty="0">
                <a:solidFill>
                  <a:srgbClr val="0432FF"/>
                </a:solidFill>
              </a:rPr>
              <a:t>Example: Smart EVM | A1.1 |  EEE 416(2022) Final Project| Dept of EEE, BUET</a:t>
            </a:r>
            <a:endParaRPr lang="en-BD" dirty="0">
              <a:solidFill>
                <a:srgbClr val="0432FF"/>
              </a:solidFill>
            </a:endParaRPr>
          </a:p>
        </p:txBody>
      </p:sp>
    </p:spTree>
    <p:extLst>
      <p:ext uri="{BB962C8B-B14F-4D97-AF65-F5344CB8AC3E}">
        <p14:creationId xmlns:p14="http://schemas.microsoft.com/office/powerpoint/2010/main" val="306442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EE142-B5BC-53DC-E18D-F905E8753116}"/>
              </a:ext>
            </a:extLst>
          </p:cNvPr>
          <p:cNvSpPr>
            <a:spLocks noGrp="1"/>
          </p:cNvSpPr>
          <p:nvPr>
            <p:ph type="title"/>
          </p:nvPr>
        </p:nvSpPr>
        <p:spPr>
          <a:xfrm>
            <a:off x="1066800" y="459714"/>
            <a:ext cx="10501086" cy="729006"/>
          </a:xfrm>
        </p:spPr>
        <p:txBody>
          <a:bodyPr>
            <a:noAutofit/>
          </a:bodyPr>
          <a:lstStyle/>
          <a:p>
            <a:r>
              <a:rPr lang="en-GB" sz="3600" dirty="0"/>
              <a:t>8. Project Management and Cost Analysis (PO(k))</a:t>
            </a:r>
          </a:p>
        </p:txBody>
      </p:sp>
      <p:sp>
        <p:nvSpPr>
          <p:cNvPr id="3" name="Content Placeholder 2">
            <a:extLst>
              <a:ext uri="{FF2B5EF4-FFF2-40B4-BE49-F238E27FC236}">
                <a16:creationId xmlns:a16="http://schemas.microsoft.com/office/drawing/2014/main" id="{8641BF15-8FBB-ACD0-428B-4F211184E55B}"/>
              </a:ext>
            </a:extLst>
          </p:cNvPr>
          <p:cNvSpPr>
            <a:spLocks noGrp="1"/>
          </p:cNvSpPr>
          <p:nvPr>
            <p:ph idx="1"/>
          </p:nvPr>
        </p:nvSpPr>
        <p:spPr/>
        <p:txBody>
          <a:bodyPr>
            <a:normAutofit/>
          </a:bodyPr>
          <a:lstStyle/>
          <a:p>
            <a:pPr marL="742950" lvl="1" indent="-285750">
              <a:lnSpc>
                <a:spcPct val="107000"/>
              </a:lnSpc>
              <a:spcBef>
                <a:spcPts val="1800"/>
              </a:spcBef>
              <a:spcAft>
                <a:spcPts val="1200"/>
              </a:spcAft>
              <a:buFont typeface="+mj-lt"/>
              <a:buAutoNum type="arabicPeriod"/>
            </a:pPr>
            <a:r>
              <a:rPr lang="en-GB" sz="1800" b="1"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Bill of Materials</a:t>
            </a:r>
            <a:endParaRPr lang="en-GB" sz="1800" b="1" dirty="0">
              <a:effectLst/>
              <a:latin typeface="Times New Roman" panose="02020603050405020304" pitchFamily="18" charset="0"/>
              <a:ea typeface="Times New Roman" panose="02020603050405020304" pitchFamily="18" charset="0"/>
            </a:endParaRPr>
          </a:p>
          <a:p>
            <a:pPr marL="742950" lvl="1" indent="-285750">
              <a:lnSpc>
                <a:spcPct val="107000"/>
              </a:lnSpc>
              <a:spcBef>
                <a:spcPts val="1800"/>
              </a:spcBef>
              <a:spcAft>
                <a:spcPts val="1200"/>
              </a:spcAft>
              <a:buFont typeface="+mj-lt"/>
              <a:buAutoNum type="arabicPeriod"/>
            </a:pPr>
            <a:r>
              <a:rPr lang="en-US" sz="1800" b="1" dirty="0">
                <a:effectLst/>
                <a:latin typeface="Times New Roman" panose="02020603050405020304" pitchFamily="18" charset="0"/>
                <a:ea typeface="Times New Roman" panose="02020603050405020304" pitchFamily="18" charset="0"/>
              </a:rPr>
              <a:t> Calculation of Per Unit Cost of Prototype</a:t>
            </a:r>
            <a:endParaRPr lang="en-GB" sz="1800" b="1" dirty="0">
              <a:effectLst/>
              <a:latin typeface="Times New Roman" panose="02020603050405020304" pitchFamily="18" charset="0"/>
              <a:ea typeface="Times New Roman" panose="02020603050405020304" pitchFamily="18" charset="0"/>
            </a:endParaRPr>
          </a:p>
          <a:p>
            <a:pPr marL="742950" lvl="1" indent="-285750">
              <a:lnSpc>
                <a:spcPct val="107000"/>
              </a:lnSpc>
              <a:spcBef>
                <a:spcPts val="1800"/>
              </a:spcBef>
              <a:spcAft>
                <a:spcPts val="1200"/>
              </a:spcAft>
              <a:buFont typeface="+mj-lt"/>
              <a:buAutoNum type="arabicPeriod"/>
            </a:pPr>
            <a:r>
              <a:rPr lang="en-US" sz="1800" b="1" dirty="0">
                <a:effectLst/>
                <a:latin typeface="Times New Roman" panose="02020603050405020304" pitchFamily="18" charset="0"/>
                <a:ea typeface="Times New Roman" panose="02020603050405020304" pitchFamily="18" charset="0"/>
              </a:rPr>
              <a:t> Calculation of Per Unit Cost of Mass-Produced Unit</a:t>
            </a:r>
            <a:endParaRPr lang="en-GB" sz="1800" b="1" dirty="0">
              <a:effectLst/>
              <a:latin typeface="Times New Roman" panose="02020603050405020304" pitchFamily="18" charset="0"/>
              <a:ea typeface="Times New Roman" panose="02020603050405020304" pitchFamily="18" charset="0"/>
            </a:endParaRPr>
          </a:p>
          <a:p>
            <a:pPr marL="742950" lvl="1" indent="-285750">
              <a:lnSpc>
                <a:spcPct val="107000"/>
              </a:lnSpc>
              <a:spcBef>
                <a:spcPts val="1800"/>
              </a:spcBef>
              <a:spcAft>
                <a:spcPts val="1200"/>
              </a:spcAft>
              <a:buFont typeface="+mj-lt"/>
              <a:buAutoNum type="arabicPeriod"/>
            </a:pPr>
            <a:r>
              <a:rPr lang="en-US" sz="1800" b="1" dirty="0">
                <a:effectLst/>
                <a:latin typeface="Times New Roman" panose="02020603050405020304" pitchFamily="18" charset="0"/>
                <a:ea typeface="Times New Roman" panose="02020603050405020304" pitchFamily="18" charset="0"/>
              </a:rPr>
              <a:t> Timeline of Project Implementation</a:t>
            </a:r>
            <a:endParaRPr lang="en-GB" sz="1800" b="1" dirty="0">
              <a:effectLst/>
              <a:latin typeface="Times New Roman" panose="02020603050405020304" pitchFamily="18" charset="0"/>
              <a:ea typeface="Times New Roman" panose="02020603050405020304" pitchFamily="18" charset="0"/>
            </a:endParaRPr>
          </a:p>
          <a:p>
            <a:endParaRPr lang="en-GB" sz="4000" dirty="0"/>
          </a:p>
        </p:txBody>
      </p:sp>
      <p:sp>
        <p:nvSpPr>
          <p:cNvPr id="4" name="Date Placeholder 3">
            <a:extLst>
              <a:ext uri="{FF2B5EF4-FFF2-40B4-BE49-F238E27FC236}">
                <a16:creationId xmlns:a16="http://schemas.microsoft.com/office/drawing/2014/main" id="{8099EA69-7441-F62C-7A1E-2B202B4507DB}"/>
              </a:ext>
            </a:extLst>
          </p:cNvPr>
          <p:cNvSpPr>
            <a:spLocks noGrp="1"/>
          </p:cNvSpPr>
          <p:nvPr>
            <p:ph type="dt" sz="half" idx="10"/>
          </p:nvPr>
        </p:nvSpPr>
        <p:spPr/>
        <p:txBody>
          <a:bodyPr/>
          <a:lstStyle/>
          <a:p>
            <a:r>
              <a:rPr lang="en-US"/>
              <a:t>EEE 416 (2022) – Final Project Group A.XY</a:t>
            </a:r>
            <a:endParaRPr lang="en-BD" dirty="0"/>
          </a:p>
        </p:txBody>
      </p:sp>
      <p:sp>
        <p:nvSpPr>
          <p:cNvPr id="5" name="Footer Placeholder 4">
            <a:extLst>
              <a:ext uri="{FF2B5EF4-FFF2-40B4-BE49-F238E27FC236}">
                <a16:creationId xmlns:a16="http://schemas.microsoft.com/office/drawing/2014/main" id="{B5B9165D-FE70-97DE-3B1B-533E1CD11DCB}"/>
              </a:ext>
            </a:extLst>
          </p:cNvPr>
          <p:cNvSpPr>
            <a:spLocks noGrp="1"/>
          </p:cNvSpPr>
          <p:nvPr>
            <p:ph type="ftr" sz="quarter" idx="11"/>
          </p:nvPr>
        </p:nvSpPr>
        <p:spPr/>
        <p:txBody>
          <a:bodyPr/>
          <a:lstStyle/>
          <a:p>
            <a:pPr algn="ctr"/>
            <a:r>
              <a:rPr lang="en-BD"/>
              <a:t>Title of the Project</a:t>
            </a:r>
            <a:endParaRPr lang="en-BD" dirty="0"/>
          </a:p>
        </p:txBody>
      </p:sp>
      <p:sp>
        <p:nvSpPr>
          <p:cNvPr id="6" name="Slide Number Placeholder 5">
            <a:extLst>
              <a:ext uri="{FF2B5EF4-FFF2-40B4-BE49-F238E27FC236}">
                <a16:creationId xmlns:a16="http://schemas.microsoft.com/office/drawing/2014/main" id="{A0DA5771-CEAF-4EBF-41FF-6FB6B89769AB}"/>
              </a:ext>
            </a:extLst>
          </p:cNvPr>
          <p:cNvSpPr>
            <a:spLocks noGrp="1"/>
          </p:cNvSpPr>
          <p:nvPr>
            <p:ph type="sldNum" sz="quarter" idx="12"/>
          </p:nvPr>
        </p:nvSpPr>
        <p:spPr/>
        <p:txBody>
          <a:bodyPr/>
          <a:lstStyle/>
          <a:p>
            <a:fld id="{E9C29D53-9981-884B-B5B6-B5743DF81FD1}" type="slidenum">
              <a:rPr lang="en-BD" smtClean="0"/>
              <a:pPr/>
              <a:t>30</a:t>
            </a:fld>
            <a:endParaRPr lang="en-BD" dirty="0"/>
          </a:p>
        </p:txBody>
      </p:sp>
      <p:sp>
        <p:nvSpPr>
          <p:cNvPr id="10" name="TextBox 9">
            <a:extLst>
              <a:ext uri="{FF2B5EF4-FFF2-40B4-BE49-F238E27FC236}">
                <a16:creationId xmlns:a16="http://schemas.microsoft.com/office/drawing/2014/main" id="{0F887EE9-4FBA-4FF8-D5BC-A61338EE605A}"/>
              </a:ext>
            </a:extLst>
          </p:cNvPr>
          <p:cNvSpPr txBox="1"/>
          <p:nvPr/>
        </p:nvSpPr>
        <p:spPr>
          <a:xfrm>
            <a:off x="5167085" y="3142680"/>
            <a:ext cx="6096000" cy="2585323"/>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PO(k)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t>
            </a:r>
            <a:r>
              <a:rPr lang="en-US" sz="1800" i="1" dirty="0">
                <a:solidFill>
                  <a:srgbClr val="4F81BD"/>
                </a:solidFill>
                <a:effectLst/>
                <a:latin typeface="Times New Roman" panose="02020603050405020304" pitchFamily="18" charset="0"/>
                <a:ea typeface="Times New Roman" panose="02020603050405020304" pitchFamily="18" charset="0"/>
              </a:rPr>
              <a:t>If not needed, remove this entire section. If needed, DO NOT Change the title of this section.</a:t>
            </a:r>
          </a:p>
          <a:p>
            <a:endParaRPr lang="en-US" i="1" dirty="0">
              <a:solidFill>
                <a:srgbClr val="4F81BD"/>
              </a:solidFill>
              <a:latin typeface="Times New Roman" panose="02020603050405020304" pitchFamily="18" charset="0"/>
              <a:ea typeface="Times New Roman" panose="02020603050405020304" pitchFamily="18" charset="0"/>
            </a:endParaRPr>
          </a:p>
          <a:p>
            <a:r>
              <a:rPr lang="en-US" sz="1800" i="1" dirty="0">
                <a:solidFill>
                  <a:srgbClr val="4F81BD"/>
                </a:solidFill>
                <a:effectLst/>
                <a:latin typeface="Times New Roman" panose="02020603050405020304" pitchFamily="18" charset="0"/>
                <a:ea typeface="Times New Roman" panose="02020603050405020304" pitchFamily="18" charset="0"/>
              </a:rPr>
              <a:t>Use multiple slides for bill of materials if needed</a:t>
            </a:r>
          </a:p>
          <a:p>
            <a:r>
              <a:rPr lang="en-US" i="1" dirty="0">
                <a:solidFill>
                  <a:srgbClr val="4F81BD"/>
                </a:solidFill>
                <a:latin typeface="Times New Roman" panose="02020603050405020304" pitchFamily="18" charset="0"/>
                <a:ea typeface="Times New Roman" panose="02020603050405020304" pitchFamily="18" charset="0"/>
              </a:rPr>
              <a:t>Show costs in a single slide</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45718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8394-81FC-9718-C3C6-AD14D0856E52}"/>
              </a:ext>
            </a:extLst>
          </p:cNvPr>
          <p:cNvSpPr>
            <a:spLocks noGrp="1"/>
          </p:cNvSpPr>
          <p:nvPr>
            <p:ph type="title"/>
          </p:nvPr>
        </p:nvSpPr>
        <p:spPr/>
        <p:txBody>
          <a:bodyPr/>
          <a:lstStyle/>
          <a:p>
            <a:r>
              <a:rPr lang="en-GB" dirty="0"/>
              <a:t>9. Future Work (PO(l))</a:t>
            </a:r>
          </a:p>
        </p:txBody>
      </p:sp>
      <p:sp>
        <p:nvSpPr>
          <p:cNvPr id="3" name="Content Placeholder 2">
            <a:extLst>
              <a:ext uri="{FF2B5EF4-FFF2-40B4-BE49-F238E27FC236}">
                <a16:creationId xmlns:a16="http://schemas.microsoft.com/office/drawing/2014/main" id="{534A2677-3FFB-8A8B-1C49-4DD306231CD7}"/>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0EE4CD65-F7E3-85C7-2513-9C679DCD7A5F}"/>
              </a:ext>
            </a:extLst>
          </p:cNvPr>
          <p:cNvSpPr>
            <a:spLocks noGrp="1"/>
          </p:cNvSpPr>
          <p:nvPr>
            <p:ph type="dt" sz="half" idx="10"/>
          </p:nvPr>
        </p:nvSpPr>
        <p:spPr/>
        <p:txBody>
          <a:bodyPr/>
          <a:lstStyle/>
          <a:p>
            <a:r>
              <a:rPr lang="en-US"/>
              <a:t>EEE 416 (2022) – Final Project Group A.XY</a:t>
            </a:r>
            <a:endParaRPr lang="en-BD" dirty="0"/>
          </a:p>
        </p:txBody>
      </p:sp>
      <p:sp>
        <p:nvSpPr>
          <p:cNvPr id="5" name="Footer Placeholder 4">
            <a:extLst>
              <a:ext uri="{FF2B5EF4-FFF2-40B4-BE49-F238E27FC236}">
                <a16:creationId xmlns:a16="http://schemas.microsoft.com/office/drawing/2014/main" id="{5AFCAC9D-B70F-FADA-470F-B9649BA25E0A}"/>
              </a:ext>
            </a:extLst>
          </p:cNvPr>
          <p:cNvSpPr>
            <a:spLocks noGrp="1"/>
          </p:cNvSpPr>
          <p:nvPr>
            <p:ph type="ftr" sz="quarter" idx="11"/>
          </p:nvPr>
        </p:nvSpPr>
        <p:spPr/>
        <p:txBody>
          <a:bodyPr/>
          <a:lstStyle/>
          <a:p>
            <a:pPr algn="ctr"/>
            <a:r>
              <a:rPr lang="en-BD"/>
              <a:t>Title of the Project</a:t>
            </a:r>
            <a:endParaRPr lang="en-BD" dirty="0"/>
          </a:p>
        </p:txBody>
      </p:sp>
      <p:sp>
        <p:nvSpPr>
          <p:cNvPr id="6" name="Slide Number Placeholder 5">
            <a:extLst>
              <a:ext uri="{FF2B5EF4-FFF2-40B4-BE49-F238E27FC236}">
                <a16:creationId xmlns:a16="http://schemas.microsoft.com/office/drawing/2014/main" id="{989081B2-77D4-F78C-BC42-5C78C11F4A6A}"/>
              </a:ext>
            </a:extLst>
          </p:cNvPr>
          <p:cNvSpPr>
            <a:spLocks noGrp="1"/>
          </p:cNvSpPr>
          <p:nvPr>
            <p:ph type="sldNum" sz="quarter" idx="12"/>
          </p:nvPr>
        </p:nvSpPr>
        <p:spPr/>
        <p:txBody>
          <a:bodyPr/>
          <a:lstStyle/>
          <a:p>
            <a:fld id="{E9C29D53-9981-884B-B5B6-B5743DF81FD1}" type="slidenum">
              <a:rPr lang="en-BD" smtClean="0"/>
              <a:pPr/>
              <a:t>31</a:t>
            </a:fld>
            <a:endParaRPr lang="en-BD" dirty="0"/>
          </a:p>
        </p:txBody>
      </p:sp>
      <p:sp>
        <p:nvSpPr>
          <p:cNvPr id="9" name="TextBox 8">
            <a:extLst>
              <a:ext uri="{FF2B5EF4-FFF2-40B4-BE49-F238E27FC236}">
                <a16:creationId xmlns:a16="http://schemas.microsoft.com/office/drawing/2014/main" id="{51820444-DA2D-7F19-AF86-478FC748CE30}"/>
              </a:ext>
            </a:extLst>
          </p:cNvPr>
          <p:cNvSpPr txBox="1"/>
          <p:nvPr/>
        </p:nvSpPr>
        <p:spPr>
          <a:xfrm>
            <a:off x="3048000" y="2890521"/>
            <a:ext cx="6096000" cy="1200329"/>
          </a:xfrm>
          <a:prstGeom prst="rect">
            <a:avLst/>
          </a:prstGeom>
          <a:noFill/>
        </p:spPr>
        <p:txBody>
          <a:bodyPr wrap="square">
            <a:spAutoFit/>
          </a:bodyPr>
          <a:lstStyle/>
          <a:p>
            <a:r>
              <a:rPr lang="en-US" sz="1800" i="1" dirty="0">
                <a:solidFill>
                  <a:srgbClr val="4F81BD"/>
                </a:solidFill>
                <a:effectLst/>
                <a:latin typeface="Times New Roman" panose="02020603050405020304" pitchFamily="18" charset="0"/>
                <a:ea typeface="Times New Roman" panose="02020603050405020304" pitchFamily="18" charset="0"/>
              </a:rPr>
              <a:t>This section is mandatory to write if the course outcomes address PO(l) Read the PO Statement in the website first, before writing this section (</a:t>
            </a:r>
            <a:r>
              <a:rPr lang="en-US" sz="1800" u="sng" dirty="0">
                <a:solidFill>
                  <a:srgbClr val="0000FF"/>
                </a:solidFill>
                <a:effectLst/>
                <a:latin typeface="Times New Roman" panose="02020603050405020304" pitchFamily="18" charset="0"/>
                <a:ea typeface="Times New Roman" panose="02020603050405020304" pitchFamily="18" charset="0"/>
                <a:hlinkClick r:id="rId2"/>
              </a:rPr>
              <a:t>Program Outcomes and Program Educational Objectives | Department of EEE, BUET</a:t>
            </a:r>
            <a:r>
              <a:rPr lang="en-US" sz="1800" i="1" dirty="0">
                <a:solidFill>
                  <a:srgbClr val="4F81BD"/>
                </a:solidFill>
                <a:effectLst/>
                <a:latin typeface="Times New Roman" panose="02020603050405020304" pitchFamily="18" charset="0"/>
                <a:ea typeface="Times New Roman" panose="02020603050405020304" pitchFamily="18" charset="0"/>
              </a:rPr>
              <a:t>)</a:t>
            </a:r>
            <a:endParaRPr lang="en-GB"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74043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F11D-A416-0F4E-9F78-0DF2456C744E}"/>
              </a:ext>
            </a:extLst>
          </p:cNvPr>
          <p:cNvSpPr>
            <a:spLocks noGrp="1"/>
          </p:cNvSpPr>
          <p:nvPr>
            <p:ph type="title"/>
          </p:nvPr>
        </p:nvSpPr>
        <p:spPr/>
        <p:txBody>
          <a:bodyPr/>
          <a:lstStyle/>
          <a:p>
            <a:r>
              <a:rPr lang="en-US" dirty="0"/>
              <a:t>10. </a:t>
            </a:r>
            <a:r>
              <a:rPr lang="en-BD" dirty="0"/>
              <a:t>References</a:t>
            </a:r>
          </a:p>
        </p:txBody>
      </p:sp>
      <p:sp>
        <p:nvSpPr>
          <p:cNvPr id="3" name="Content Placeholder 2">
            <a:extLst>
              <a:ext uri="{FF2B5EF4-FFF2-40B4-BE49-F238E27FC236}">
                <a16:creationId xmlns:a16="http://schemas.microsoft.com/office/drawing/2014/main" id="{99A9824A-37CE-5047-8E24-58FA9D659E94}"/>
              </a:ext>
            </a:extLst>
          </p:cNvPr>
          <p:cNvSpPr>
            <a:spLocks noGrp="1"/>
          </p:cNvSpPr>
          <p:nvPr>
            <p:ph idx="1"/>
          </p:nvPr>
        </p:nvSpPr>
        <p:spPr/>
        <p:txBody>
          <a:bodyPr/>
          <a:lstStyle/>
          <a:p>
            <a:r>
              <a:rPr lang="en-BD" dirty="0"/>
              <a:t>Add any and all references here, for websites, give URL. Include any research articles, datasheets, handbooks, reference manuals used in the project.</a:t>
            </a:r>
            <a:r>
              <a:rPr lang="en-US" dirty="0"/>
              <a:t> In presentation, just show this slide, no need to explain.</a:t>
            </a:r>
            <a:endParaRPr lang="en-BD" dirty="0"/>
          </a:p>
        </p:txBody>
      </p:sp>
      <p:sp>
        <p:nvSpPr>
          <p:cNvPr id="4" name="Date Placeholder 3">
            <a:extLst>
              <a:ext uri="{FF2B5EF4-FFF2-40B4-BE49-F238E27FC236}">
                <a16:creationId xmlns:a16="http://schemas.microsoft.com/office/drawing/2014/main" id="{0DC25CA0-776A-F245-A1EB-5693AB3E5DE2}"/>
              </a:ext>
            </a:extLst>
          </p:cNvPr>
          <p:cNvSpPr>
            <a:spLocks noGrp="1"/>
          </p:cNvSpPr>
          <p:nvPr>
            <p:ph type="dt" sz="half" idx="10"/>
          </p:nvPr>
        </p:nvSpPr>
        <p:spPr>
          <a:xfrm>
            <a:off x="432485" y="6501637"/>
            <a:ext cx="3909769" cy="356363"/>
          </a:xfrm>
        </p:spPr>
        <p:txBody>
          <a:bodyPr/>
          <a:lstStyle/>
          <a:p>
            <a:r>
              <a:rPr lang="en-US" dirty="0"/>
              <a:t>EEE 416 (2022) – Final Project Group A.XY</a:t>
            </a:r>
            <a:endParaRPr lang="en-BD" dirty="0"/>
          </a:p>
        </p:txBody>
      </p:sp>
      <p:sp>
        <p:nvSpPr>
          <p:cNvPr id="6" name="Slide Number Placeholder 5">
            <a:extLst>
              <a:ext uri="{FF2B5EF4-FFF2-40B4-BE49-F238E27FC236}">
                <a16:creationId xmlns:a16="http://schemas.microsoft.com/office/drawing/2014/main" id="{D3D3A405-BAC8-CE44-AF2C-14F0689908F8}"/>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32</a:t>
            </a:fld>
            <a:endParaRPr lang="en-BD"/>
          </a:p>
        </p:txBody>
      </p:sp>
      <p:sp>
        <p:nvSpPr>
          <p:cNvPr id="5" name="Footer Placeholder 4">
            <a:extLst>
              <a:ext uri="{FF2B5EF4-FFF2-40B4-BE49-F238E27FC236}">
                <a16:creationId xmlns:a16="http://schemas.microsoft.com/office/drawing/2014/main" id="{1C879CCC-2513-EADF-D5E3-66E952D336B4}"/>
              </a:ext>
            </a:extLst>
          </p:cNvPr>
          <p:cNvSpPr>
            <a:spLocks noGrp="1"/>
          </p:cNvSpPr>
          <p:nvPr>
            <p:ph type="ftr" sz="quarter" idx="11"/>
          </p:nvPr>
        </p:nvSpPr>
        <p:spPr/>
        <p:txBody>
          <a:bodyPr/>
          <a:lstStyle/>
          <a:p>
            <a:pPr algn="ctr"/>
            <a:r>
              <a:rPr lang="en-BD"/>
              <a:t>Title of the Project</a:t>
            </a:r>
            <a:endParaRPr lang="en-BD" dirty="0"/>
          </a:p>
        </p:txBody>
      </p:sp>
      <p:sp>
        <p:nvSpPr>
          <p:cNvPr id="7" name="TextBox 6">
            <a:extLst>
              <a:ext uri="{FF2B5EF4-FFF2-40B4-BE49-F238E27FC236}">
                <a16:creationId xmlns:a16="http://schemas.microsoft.com/office/drawing/2014/main" id="{082AC141-FFE5-3761-9276-1F661A0E6FB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1706XXX</a:t>
            </a:r>
            <a:endParaRPr lang="en-GB" i="1" dirty="0">
              <a:solidFill>
                <a:srgbClr val="FFFF00"/>
              </a:solidFill>
              <a:latin typeface="Arial Narrow" panose="020B0606020202030204" pitchFamily="34" charset="0"/>
            </a:endParaRPr>
          </a:p>
        </p:txBody>
      </p:sp>
    </p:spTree>
    <p:extLst>
      <p:ext uri="{BB962C8B-B14F-4D97-AF65-F5344CB8AC3E}">
        <p14:creationId xmlns:p14="http://schemas.microsoft.com/office/powerpoint/2010/main" val="30055547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{05D23346-88B9-1E48-85E6-2D29E7791F05}tf10001067</Template>
  <TotalTime>160</TotalTime>
  <Words>2934</Words>
  <Application>Microsoft Office PowerPoint</Application>
  <PresentationFormat>Widescreen</PresentationFormat>
  <Paragraphs>275</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 Black</vt:lpstr>
      <vt:lpstr>Arial Narrow</vt:lpstr>
      <vt:lpstr>Calibri</vt:lpstr>
      <vt:lpstr>Century Gothic</vt:lpstr>
      <vt:lpstr>Garamond</vt:lpstr>
      <vt:lpstr>Times New Roman</vt:lpstr>
      <vt:lpstr>Savon</vt:lpstr>
      <vt:lpstr>Title of Project</vt:lpstr>
      <vt:lpstr>Outline</vt:lpstr>
      <vt:lpstr>1. Summary / Abstract</vt:lpstr>
      <vt:lpstr>2. Introduction</vt:lpstr>
      <vt:lpstr>3.1 Design: Problem Formulation (PO(b))</vt:lpstr>
      <vt:lpstr>3.1 Design: Problem Formulation (PO(b))</vt:lpstr>
      <vt:lpstr>3.1 Design: Problem Formulation (PO(b))</vt:lpstr>
      <vt:lpstr>3.1 Design: Problem Formulation (PO(b))</vt:lpstr>
      <vt:lpstr>3.2 Design Methods (PO(a))</vt:lpstr>
      <vt:lpstr>3.3 Design: Circuit Diagram</vt:lpstr>
      <vt:lpstr>3.4 Design: Simulation</vt:lpstr>
      <vt:lpstr>3.5 CAD/Hardware Design</vt:lpstr>
      <vt:lpstr>3.5 CAD/Hardware Design</vt:lpstr>
      <vt:lpstr>3.6 Design: PCB Layout and 3d rendering</vt:lpstr>
      <vt:lpstr>4 Implementation: Demonstration</vt:lpstr>
      <vt:lpstr>4.1 Implementation: Photo Gallary</vt:lpstr>
      <vt:lpstr>5. Design Analysis and Evaluation</vt:lpstr>
      <vt:lpstr>5.1 Novelty</vt:lpstr>
      <vt:lpstr>5.2 Design Considerations (PO(c))</vt:lpstr>
      <vt:lpstr>5.3 Investigations (PO(d))</vt:lpstr>
      <vt:lpstr>5.4 Limitations of Tools (PO(e))</vt:lpstr>
      <vt:lpstr>5.5 Impact Assessment (PO(f))</vt:lpstr>
      <vt:lpstr>5.6 Sustainability Evaluation (PO(g))</vt:lpstr>
      <vt:lpstr>5.7 Sustainability Evaluation (PO(g))</vt:lpstr>
      <vt:lpstr>6. Reflection on Individual and Team work </vt:lpstr>
      <vt:lpstr>6.1 Individual Contribution of Each Member</vt:lpstr>
      <vt:lpstr>6.2 Mode of TeamWork and Diversity</vt:lpstr>
      <vt:lpstr>6.3 Logbook of Project</vt:lpstr>
      <vt:lpstr>7 Communication to External Stakeholders (PO(j))</vt:lpstr>
      <vt:lpstr>8. Project Management and Cost Analysis (PO(k))</vt:lpstr>
      <vt:lpstr>9. Future Work (PO(l))</vt:lpstr>
      <vt:lpstr>10.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Sajid Muhaimin Choudhury</dc:creator>
  <cp:lastModifiedBy>Dr. Sajid Muhaimin Choudhury</cp:lastModifiedBy>
  <cp:revision>35</cp:revision>
  <cp:lastPrinted>2023-06-08T10:53:35Z</cp:lastPrinted>
  <dcterms:created xsi:type="dcterms:W3CDTF">2021-07-11T09:27:00Z</dcterms:created>
  <dcterms:modified xsi:type="dcterms:W3CDTF">2023-06-12T14:15:58Z</dcterms:modified>
</cp:coreProperties>
</file>